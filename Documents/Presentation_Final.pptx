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26"/>
  </p:notesMasterIdLst>
  <p:sldIdLst>
    <p:sldId id="256" r:id="rId2"/>
    <p:sldId id="291" r:id="rId3"/>
    <p:sldId id="266" r:id="rId4"/>
    <p:sldId id="265" r:id="rId5"/>
    <p:sldId id="292" r:id="rId6"/>
    <p:sldId id="274" r:id="rId7"/>
    <p:sldId id="273" r:id="rId8"/>
    <p:sldId id="275" r:id="rId9"/>
    <p:sldId id="276" r:id="rId10"/>
    <p:sldId id="287" r:id="rId11"/>
    <p:sldId id="288" r:id="rId12"/>
    <p:sldId id="289" r:id="rId13"/>
    <p:sldId id="305" r:id="rId14"/>
    <p:sldId id="294" r:id="rId15"/>
    <p:sldId id="295" r:id="rId16"/>
    <p:sldId id="301" r:id="rId17"/>
    <p:sldId id="302" r:id="rId18"/>
    <p:sldId id="277" r:id="rId19"/>
    <p:sldId id="278" r:id="rId20"/>
    <p:sldId id="297" r:id="rId21"/>
    <p:sldId id="298" r:id="rId22"/>
    <p:sldId id="300" r:id="rId23"/>
    <p:sldId id="269" r:id="rId24"/>
    <p:sldId id="30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E859A-C5BC-CB9B-F6F3-97E926DA5CA8}" v="1" dt="2025-07-05T20:17:53.016"/>
    <p1510:client id="{4435BE3B-4BFD-54BD-EC63-3B180754D17D}" v="20" dt="2025-07-07T00:59:21.043"/>
    <p1510:client id="{66E2F18D-393D-2394-EA66-9B6056228786}" v="95" dt="2025-07-06T02:50:20.077"/>
    <p1510:client id="{A83E573C-976F-47E5-C235-38F837B95186}" v="4" dt="2025-07-06T22:20:12.576"/>
    <p1510:client id="{ADC354CF-0C15-D8E0-2F06-15AE8241D830}" v="5" dt="2025-07-06T02:44:04.817"/>
    <p1510:client id="{B6BCED10-BBF6-BFB8-680A-26B2A04F2716}" v="1" dt="2025-07-06T02:19:20.623"/>
    <p1510:client id="{C3127398-338D-5BEA-285B-D0D62D2C314C}" v="319" dt="2025-07-06T02:18:51.8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A7711A-7954-47BC-9396-75DB0D21FE9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AE91E03-6C49-484E-9FAD-6E9B69E6D5EA}">
      <dgm:prSet/>
      <dgm:spPr/>
      <dgm:t>
        <a:bodyPr/>
        <a:lstStyle/>
        <a:p>
          <a:r>
            <a:rPr lang="en-US" dirty="0"/>
            <a:t>Link federal records with state press releases</a:t>
          </a:r>
        </a:p>
      </dgm:t>
    </dgm:pt>
    <dgm:pt modelId="{905F26D7-B8FA-4CBD-94DD-34E2DBCA767D}" type="parTrans" cxnId="{4525DFBB-AB90-4CBB-97DA-B2E627522616}">
      <dgm:prSet/>
      <dgm:spPr/>
      <dgm:t>
        <a:bodyPr/>
        <a:lstStyle/>
        <a:p>
          <a:endParaRPr lang="en-US"/>
        </a:p>
      </dgm:t>
    </dgm:pt>
    <dgm:pt modelId="{E18CC2B7-CF56-440F-AF1A-0598049A4B5E}" type="sibTrans" cxnId="{4525DFBB-AB90-4CBB-97DA-B2E627522616}">
      <dgm:prSet/>
      <dgm:spPr/>
      <dgm:t>
        <a:bodyPr/>
        <a:lstStyle/>
        <a:p>
          <a:endParaRPr lang="en-US"/>
        </a:p>
      </dgm:t>
    </dgm:pt>
    <dgm:pt modelId="{A96D9681-5552-444D-8A72-D8901C7E17C0}">
      <dgm:prSet/>
      <dgm:spPr/>
      <dgm:t>
        <a:bodyPr/>
        <a:lstStyle/>
        <a:p>
          <a:r>
            <a:rPr lang="en-US" dirty="0"/>
            <a:t>Add death records from state releases to 3rd City Project via Qualtrics</a:t>
          </a:r>
        </a:p>
      </dgm:t>
    </dgm:pt>
    <dgm:pt modelId="{DDF46F4D-9115-4803-B4B6-41C7DF8FA6E9}" type="parTrans" cxnId="{3F87539A-24F4-4AB2-B076-90D9881D9531}">
      <dgm:prSet/>
      <dgm:spPr/>
      <dgm:t>
        <a:bodyPr/>
        <a:lstStyle/>
        <a:p>
          <a:endParaRPr lang="en-US"/>
        </a:p>
      </dgm:t>
    </dgm:pt>
    <dgm:pt modelId="{0FE48ADD-3D57-48E6-B0B4-8E11DD48F459}" type="sibTrans" cxnId="{3F87539A-24F4-4AB2-B076-90D9881D9531}">
      <dgm:prSet/>
      <dgm:spPr/>
      <dgm:t>
        <a:bodyPr/>
        <a:lstStyle/>
        <a:p>
          <a:endParaRPr lang="en-US"/>
        </a:p>
      </dgm:t>
    </dgm:pt>
    <dgm:pt modelId="{F24C12CC-DEDC-4BA8-B63F-A244A0D389F1}">
      <dgm:prSet/>
      <dgm:spPr/>
      <dgm:t>
        <a:bodyPr/>
        <a:lstStyle/>
        <a:p>
          <a:r>
            <a:rPr lang="en-US" dirty="0"/>
            <a:t>Enhance interactive map design, add more stats, and deploy publicly</a:t>
          </a:r>
        </a:p>
      </dgm:t>
    </dgm:pt>
    <dgm:pt modelId="{43228AAB-36A0-4213-9185-ABC0319A6629}" type="parTrans" cxnId="{67558C85-A8EA-40AD-BF2A-AAE26EE20905}">
      <dgm:prSet/>
      <dgm:spPr/>
      <dgm:t>
        <a:bodyPr/>
        <a:lstStyle/>
        <a:p>
          <a:endParaRPr lang="en-US"/>
        </a:p>
      </dgm:t>
    </dgm:pt>
    <dgm:pt modelId="{8F01A747-5B64-41F8-B8A4-555618538DD2}" type="sibTrans" cxnId="{67558C85-A8EA-40AD-BF2A-AAE26EE20905}">
      <dgm:prSet/>
      <dgm:spPr/>
      <dgm:t>
        <a:bodyPr/>
        <a:lstStyle/>
        <a:p>
          <a:endParaRPr lang="en-US"/>
        </a:p>
      </dgm:t>
    </dgm:pt>
    <dgm:pt modelId="{C36F19E7-862B-4A50-908B-8F3300F78ED8}">
      <dgm:prSet/>
      <dgm:spPr/>
      <dgm:t>
        <a:bodyPr/>
        <a:lstStyle/>
        <a:p>
          <a:r>
            <a:rPr lang="en-US" dirty="0"/>
            <a:t>Apply statistical/ML models where appropriate</a:t>
          </a:r>
        </a:p>
      </dgm:t>
    </dgm:pt>
    <dgm:pt modelId="{B3DECDB0-B477-466E-BA3B-895DAF2EF7A9}" type="parTrans" cxnId="{DE8BA7A0-8BB2-494F-AE42-E86B304AB217}">
      <dgm:prSet/>
      <dgm:spPr/>
      <dgm:t>
        <a:bodyPr/>
        <a:lstStyle/>
        <a:p>
          <a:endParaRPr lang="en-US"/>
        </a:p>
      </dgm:t>
    </dgm:pt>
    <dgm:pt modelId="{ADA88DE6-AC69-4928-9A99-EA4BD8C5896F}" type="sibTrans" cxnId="{DE8BA7A0-8BB2-494F-AE42-E86B304AB217}">
      <dgm:prSet/>
      <dgm:spPr/>
      <dgm:t>
        <a:bodyPr/>
        <a:lstStyle/>
        <a:p>
          <a:endParaRPr lang="en-US"/>
        </a:p>
      </dgm:t>
    </dgm:pt>
    <dgm:pt modelId="{1A4B5BD6-83E1-442B-9C17-54834CFB55EF}">
      <dgm:prSet/>
      <dgm:spPr/>
      <dgm:t>
        <a:bodyPr/>
        <a:lstStyle/>
        <a:p>
          <a:r>
            <a:rPr lang="en-US" dirty="0"/>
            <a:t>Clean &amp; finalize BJA dataset (2020–2024) for EDA &amp; map integration</a:t>
          </a:r>
        </a:p>
      </dgm:t>
    </dgm:pt>
    <dgm:pt modelId="{8B318365-4DD3-422C-8E4F-5B53022CBF90}" type="parTrans" cxnId="{6B168281-6FEB-4705-826F-03E668A0277F}">
      <dgm:prSet/>
      <dgm:spPr/>
      <dgm:t>
        <a:bodyPr/>
        <a:lstStyle/>
        <a:p>
          <a:endParaRPr lang="en-US"/>
        </a:p>
      </dgm:t>
    </dgm:pt>
    <dgm:pt modelId="{F50DD446-0418-4D50-B6AD-3FB11E75610A}" type="sibTrans" cxnId="{6B168281-6FEB-4705-826F-03E668A0277F}">
      <dgm:prSet/>
      <dgm:spPr/>
      <dgm:t>
        <a:bodyPr/>
        <a:lstStyle/>
        <a:p>
          <a:endParaRPr lang="en-US"/>
        </a:p>
      </dgm:t>
    </dgm:pt>
    <dgm:pt modelId="{9F6F9DE9-1C4B-484D-9F12-31002DD3E289}">
      <dgm:prSet/>
      <dgm:spPr/>
      <dgm:t>
        <a:bodyPr/>
        <a:lstStyle/>
        <a:p>
          <a:r>
            <a:rPr lang="en-US" dirty="0"/>
            <a:t>Meet 3rd City reps to discuss improvements &amp; draft policy memo</a:t>
          </a:r>
        </a:p>
      </dgm:t>
    </dgm:pt>
    <dgm:pt modelId="{DAE12EE5-9EF7-4CE0-8DFA-EBCCB2B81448}" type="parTrans" cxnId="{11160C12-E63A-46F9-B538-0A92007C42D1}">
      <dgm:prSet/>
      <dgm:spPr/>
      <dgm:t>
        <a:bodyPr/>
        <a:lstStyle/>
        <a:p>
          <a:endParaRPr lang="en-US"/>
        </a:p>
      </dgm:t>
    </dgm:pt>
    <dgm:pt modelId="{525D1A1D-F8CC-4FC7-BA8B-5258E3F7EE8F}" type="sibTrans" cxnId="{11160C12-E63A-46F9-B538-0A92007C42D1}">
      <dgm:prSet/>
      <dgm:spPr/>
      <dgm:t>
        <a:bodyPr/>
        <a:lstStyle/>
        <a:p>
          <a:endParaRPr lang="en-US"/>
        </a:p>
      </dgm:t>
    </dgm:pt>
    <dgm:pt modelId="{75E6E8B1-BED7-46CF-B4FD-DF63AE0DE53D}" type="pres">
      <dgm:prSet presAssocID="{53A7711A-7954-47BC-9396-75DB0D21FE95}" presName="Name0" presStyleCnt="0">
        <dgm:presLayoutVars>
          <dgm:dir/>
          <dgm:resizeHandles val="exact"/>
        </dgm:presLayoutVars>
      </dgm:prSet>
      <dgm:spPr/>
    </dgm:pt>
    <dgm:pt modelId="{03EC7471-08FB-4008-AB84-D33714CE3CA2}" type="pres">
      <dgm:prSet presAssocID="{7AE91E03-6C49-484E-9FAD-6E9B69E6D5EA}" presName="node" presStyleLbl="node1" presStyleIdx="0" presStyleCnt="6">
        <dgm:presLayoutVars>
          <dgm:bulletEnabled val="1"/>
        </dgm:presLayoutVars>
      </dgm:prSet>
      <dgm:spPr>
        <a:solidFill>
          <a:srgbClr val="0070C0"/>
        </a:solidFill>
      </dgm:spPr>
    </dgm:pt>
    <dgm:pt modelId="{DC6341B1-7011-438E-B26B-4BEF46446C9F}" type="pres">
      <dgm:prSet presAssocID="{E18CC2B7-CF56-440F-AF1A-0598049A4B5E}" presName="sibTrans" presStyleLbl="sibTrans1D1" presStyleIdx="0" presStyleCnt="5"/>
      <dgm:spPr/>
    </dgm:pt>
    <dgm:pt modelId="{CD883F3E-283F-47DC-A00C-7DEFBA453324}" type="pres">
      <dgm:prSet presAssocID="{E18CC2B7-CF56-440F-AF1A-0598049A4B5E}" presName="connectorText" presStyleLbl="sibTrans1D1" presStyleIdx="0" presStyleCnt="5"/>
      <dgm:spPr/>
    </dgm:pt>
    <dgm:pt modelId="{E9BF9724-FE09-473C-AA80-1678CA62D37C}" type="pres">
      <dgm:prSet presAssocID="{A96D9681-5552-444D-8A72-D8901C7E17C0}" presName="node" presStyleLbl="node1" presStyleIdx="1" presStyleCnt="6">
        <dgm:presLayoutVars>
          <dgm:bulletEnabled val="1"/>
        </dgm:presLayoutVars>
      </dgm:prSet>
      <dgm:spPr>
        <a:solidFill>
          <a:srgbClr val="0070C0"/>
        </a:solidFill>
      </dgm:spPr>
    </dgm:pt>
    <dgm:pt modelId="{86A9F10E-E40B-4B82-AFC0-2777587A50B1}" type="pres">
      <dgm:prSet presAssocID="{0FE48ADD-3D57-48E6-B0B4-8E11DD48F459}" presName="sibTrans" presStyleLbl="sibTrans1D1" presStyleIdx="1" presStyleCnt="5"/>
      <dgm:spPr/>
    </dgm:pt>
    <dgm:pt modelId="{190B81D9-4F81-41B3-9A46-558158AD3045}" type="pres">
      <dgm:prSet presAssocID="{0FE48ADD-3D57-48E6-B0B4-8E11DD48F459}" presName="connectorText" presStyleLbl="sibTrans1D1" presStyleIdx="1" presStyleCnt="5"/>
      <dgm:spPr/>
    </dgm:pt>
    <dgm:pt modelId="{1CCD4A0B-1237-4F81-ADCF-3EF33B456DB2}" type="pres">
      <dgm:prSet presAssocID="{F24C12CC-DEDC-4BA8-B63F-A244A0D389F1}" presName="node" presStyleLbl="node1" presStyleIdx="2" presStyleCnt="6">
        <dgm:presLayoutVars>
          <dgm:bulletEnabled val="1"/>
        </dgm:presLayoutVars>
      </dgm:prSet>
      <dgm:spPr>
        <a:solidFill>
          <a:srgbClr val="0070C0"/>
        </a:solidFill>
      </dgm:spPr>
    </dgm:pt>
    <dgm:pt modelId="{78372DAC-2FA2-4CC7-8F00-55F162FD9D77}" type="pres">
      <dgm:prSet presAssocID="{8F01A747-5B64-41F8-B8A4-555618538DD2}" presName="sibTrans" presStyleLbl="sibTrans1D1" presStyleIdx="2" presStyleCnt="5"/>
      <dgm:spPr/>
    </dgm:pt>
    <dgm:pt modelId="{719953FA-F754-41BE-B7A7-EFF9778F526A}" type="pres">
      <dgm:prSet presAssocID="{8F01A747-5B64-41F8-B8A4-555618538DD2}" presName="connectorText" presStyleLbl="sibTrans1D1" presStyleIdx="2" presStyleCnt="5"/>
      <dgm:spPr/>
    </dgm:pt>
    <dgm:pt modelId="{D68C2589-8367-4D3A-B974-91E3436ED52A}" type="pres">
      <dgm:prSet presAssocID="{C36F19E7-862B-4A50-908B-8F3300F78ED8}" presName="node" presStyleLbl="node1" presStyleIdx="3" presStyleCnt="6">
        <dgm:presLayoutVars>
          <dgm:bulletEnabled val="1"/>
        </dgm:presLayoutVars>
      </dgm:prSet>
      <dgm:spPr>
        <a:solidFill>
          <a:srgbClr val="0070C0"/>
        </a:solidFill>
      </dgm:spPr>
    </dgm:pt>
    <dgm:pt modelId="{58E20458-37FE-4521-917A-290D7CE33E22}" type="pres">
      <dgm:prSet presAssocID="{ADA88DE6-AC69-4928-9A99-EA4BD8C5896F}" presName="sibTrans" presStyleLbl="sibTrans1D1" presStyleIdx="3" presStyleCnt="5"/>
      <dgm:spPr/>
    </dgm:pt>
    <dgm:pt modelId="{360A966A-F02F-4A7F-ABF8-92EE7BC530B6}" type="pres">
      <dgm:prSet presAssocID="{ADA88DE6-AC69-4928-9A99-EA4BD8C5896F}" presName="connectorText" presStyleLbl="sibTrans1D1" presStyleIdx="3" presStyleCnt="5"/>
      <dgm:spPr/>
    </dgm:pt>
    <dgm:pt modelId="{F89D215F-A2A2-468B-B91B-F3FEE0CE961E}" type="pres">
      <dgm:prSet presAssocID="{1A4B5BD6-83E1-442B-9C17-54834CFB55EF}" presName="node" presStyleLbl="node1" presStyleIdx="4" presStyleCnt="6">
        <dgm:presLayoutVars>
          <dgm:bulletEnabled val="1"/>
        </dgm:presLayoutVars>
      </dgm:prSet>
      <dgm:spPr>
        <a:solidFill>
          <a:srgbClr val="0070C0"/>
        </a:solidFill>
      </dgm:spPr>
    </dgm:pt>
    <dgm:pt modelId="{E6E049D7-DD36-422C-BD52-E9EF6932C9F4}" type="pres">
      <dgm:prSet presAssocID="{F50DD446-0418-4D50-B6AD-3FB11E75610A}" presName="sibTrans" presStyleLbl="sibTrans1D1" presStyleIdx="4" presStyleCnt="5"/>
      <dgm:spPr/>
    </dgm:pt>
    <dgm:pt modelId="{6049A92E-1547-4A6E-8EC6-B9FBBEE69A11}" type="pres">
      <dgm:prSet presAssocID="{F50DD446-0418-4D50-B6AD-3FB11E75610A}" presName="connectorText" presStyleLbl="sibTrans1D1" presStyleIdx="4" presStyleCnt="5"/>
      <dgm:spPr/>
    </dgm:pt>
    <dgm:pt modelId="{0910CB36-ED05-43DF-B7C7-E0036A5D1A4D}" type="pres">
      <dgm:prSet presAssocID="{9F6F9DE9-1C4B-484D-9F12-31002DD3E289}" presName="node" presStyleLbl="node1" presStyleIdx="5" presStyleCnt="6">
        <dgm:presLayoutVars>
          <dgm:bulletEnabled val="1"/>
        </dgm:presLayoutVars>
      </dgm:prSet>
      <dgm:spPr>
        <a:solidFill>
          <a:srgbClr val="0070C0"/>
        </a:solidFill>
      </dgm:spPr>
    </dgm:pt>
  </dgm:ptLst>
  <dgm:cxnLst>
    <dgm:cxn modelId="{11160C12-E63A-46F9-B538-0A92007C42D1}" srcId="{53A7711A-7954-47BC-9396-75DB0D21FE95}" destId="{9F6F9DE9-1C4B-484D-9F12-31002DD3E289}" srcOrd="5" destOrd="0" parTransId="{DAE12EE5-9EF7-4CE0-8DFA-EBCCB2B81448}" sibTransId="{525D1A1D-F8CC-4FC7-BA8B-5258E3F7EE8F}"/>
    <dgm:cxn modelId="{33158D1D-A717-4FC6-BDAB-D73AED03DC5A}" type="presOf" srcId="{7AE91E03-6C49-484E-9FAD-6E9B69E6D5EA}" destId="{03EC7471-08FB-4008-AB84-D33714CE3CA2}" srcOrd="0" destOrd="0" presId="urn:microsoft.com/office/officeart/2016/7/layout/RepeatingBendingProcessNew"/>
    <dgm:cxn modelId="{F04E362A-DC4E-468F-8937-4774E43A2177}" type="presOf" srcId="{ADA88DE6-AC69-4928-9A99-EA4BD8C5896F}" destId="{360A966A-F02F-4A7F-ABF8-92EE7BC530B6}" srcOrd="1" destOrd="0" presId="urn:microsoft.com/office/officeart/2016/7/layout/RepeatingBendingProcessNew"/>
    <dgm:cxn modelId="{DA17253A-5E8F-433B-8AE0-D71856004AD3}" type="presOf" srcId="{ADA88DE6-AC69-4928-9A99-EA4BD8C5896F}" destId="{58E20458-37FE-4521-917A-290D7CE33E22}" srcOrd="0" destOrd="0" presId="urn:microsoft.com/office/officeart/2016/7/layout/RepeatingBendingProcessNew"/>
    <dgm:cxn modelId="{CD4C1B3D-90ED-4305-AAB6-D32DA729CA5B}" type="presOf" srcId="{1A4B5BD6-83E1-442B-9C17-54834CFB55EF}" destId="{F89D215F-A2A2-468B-B91B-F3FEE0CE961E}" srcOrd="0" destOrd="0" presId="urn:microsoft.com/office/officeart/2016/7/layout/RepeatingBendingProcessNew"/>
    <dgm:cxn modelId="{EABA883E-FAD6-44DF-95EA-9B2A2C31D322}" type="presOf" srcId="{9F6F9DE9-1C4B-484D-9F12-31002DD3E289}" destId="{0910CB36-ED05-43DF-B7C7-E0036A5D1A4D}" srcOrd="0" destOrd="0" presId="urn:microsoft.com/office/officeart/2016/7/layout/RepeatingBendingProcessNew"/>
    <dgm:cxn modelId="{2B0B2268-15EA-4F58-8A60-D325551E32B9}" type="presOf" srcId="{E18CC2B7-CF56-440F-AF1A-0598049A4B5E}" destId="{DC6341B1-7011-438E-B26B-4BEF46446C9F}" srcOrd="0" destOrd="0" presId="urn:microsoft.com/office/officeart/2016/7/layout/RepeatingBendingProcessNew"/>
    <dgm:cxn modelId="{B1441153-D658-4004-8DC1-4BF0D3EFABE7}" type="presOf" srcId="{8F01A747-5B64-41F8-B8A4-555618538DD2}" destId="{78372DAC-2FA2-4CC7-8F00-55F162FD9D77}" srcOrd="0" destOrd="0" presId="urn:microsoft.com/office/officeart/2016/7/layout/RepeatingBendingProcessNew"/>
    <dgm:cxn modelId="{17833374-5EB1-4DD9-A738-A56E2CCB1690}" type="presOf" srcId="{0FE48ADD-3D57-48E6-B0B4-8E11DD48F459}" destId="{86A9F10E-E40B-4B82-AFC0-2777587A50B1}" srcOrd="0" destOrd="0" presId="urn:microsoft.com/office/officeart/2016/7/layout/RepeatingBendingProcessNew"/>
    <dgm:cxn modelId="{30CD285A-577C-4424-94AC-254676255840}" type="presOf" srcId="{53A7711A-7954-47BC-9396-75DB0D21FE95}" destId="{75E6E8B1-BED7-46CF-B4FD-DF63AE0DE53D}" srcOrd="0" destOrd="0" presId="urn:microsoft.com/office/officeart/2016/7/layout/RepeatingBendingProcessNew"/>
    <dgm:cxn modelId="{193BC37B-B361-4001-AFB7-52E952EECAF2}" type="presOf" srcId="{E18CC2B7-CF56-440F-AF1A-0598049A4B5E}" destId="{CD883F3E-283F-47DC-A00C-7DEFBA453324}" srcOrd="1" destOrd="0" presId="urn:microsoft.com/office/officeart/2016/7/layout/RepeatingBendingProcessNew"/>
    <dgm:cxn modelId="{6B168281-6FEB-4705-826F-03E668A0277F}" srcId="{53A7711A-7954-47BC-9396-75DB0D21FE95}" destId="{1A4B5BD6-83E1-442B-9C17-54834CFB55EF}" srcOrd="4" destOrd="0" parTransId="{8B318365-4DD3-422C-8E4F-5B53022CBF90}" sibTransId="{F50DD446-0418-4D50-B6AD-3FB11E75610A}"/>
    <dgm:cxn modelId="{67558C85-A8EA-40AD-BF2A-AAE26EE20905}" srcId="{53A7711A-7954-47BC-9396-75DB0D21FE95}" destId="{F24C12CC-DEDC-4BA8-B63F-A244A0D389F1}" srcOrd="2" destOrd="0" parTransId="{43228AAB-36A0-4213-9185-ABC0319A6629}" sibTransId="{8F01A747-5B64-41F8-B8A4-555618538DD2}"/>
    <dgm:cxn modelId="{4199B893-FC3E-4569-A346-901EE59F5035}" type="presOf" srcId="{C36F19E7-862B-4A50-908B-8F3300F78ED8}" destId="{D68C2589-8367-4D3A-B974-91E3436ED52A}" srcOrd="0" destOrd="0" presId="urn:microsoft.com/office/officeart/2016/7/layout/RepeatingBendingProcessNew"/>
    <dgm:cxn modelId="{3F87539A-24F4-4AB2-B076-90D9881D9531}" srcId="{53A7711A-7954-47BC-9396-75DB0D21FE95}" destId="{A96D9681-5552-444D-8A72-D8901C7E17C0}" srcOrd="1" destOrd="0" parTransId="{DDF46F4D-9115-4803-B4B6-41C7DF8FA6E9}" sibTransId="{0FE48ADD-3D57-48E6-B0B4-8E11DD48F459}"/>
    <dgm:cxn modelId="{DE8BA7A0-8BB2-494F-AE42-E86B304AB217}" srcId="{53A7711A-7954-47BC-9396-75DB0D21FE95}" destId="{C36F19E7-862B-4A50-908B-8F3300F78ED8}" srcOrd="3" destOrd="0" parTransId="{B3DECDB0-B477-466E-BA3B-895DAF2EF7A9}" sibTransId="{ADA88DE6-AC69-4928-9A99-EA4BD8C5896F}"/>
    <dgm:cxn modelId="{DE04D8A0-A489-413C-92CD-303126E437CD}" type="presOf" srcId="{F50DD446-0418-4D50-B6AD-3FB11E75610A}" destId="{E6E049D7-DD36-422C-BD52-E9EF6932C9F4}" srcOrd="0" destOrd="0" presId="urn:microsoft.com/office/officeart/2016/7/layout/RepeatingBendingProcessNew"/>
    <dgm:cxn modelId="{8A4757AB-4394-4A4B-9822-A2004D4D6951}" type="presOf" srcId="{8F01A747-5B64-41F8-B8A4-555618538DD2}" destId="{719953FA-F754-41BE-B7A7-EFF9778F526A}" srcOrd="1" destOrd="0" presId="urn:microsoft.com/office/officeart/2016/7/layout/RepeatingBendingProcessNew"/>
    <dgm:cxn modelId="{647E59AB-D6FB-4C68-A7D0-5D952F5E3550}" type="presOf" srcId="{F24C12CC-DEDC-4BA8-B63F-A244A0D389F1}" destId="{1CCD4A0B-1237-4F81-ADCF-3EF33B456DB2}" srcOrd="0" destOrd="0" presId="urn:microsoft.com/office/officeart/2016/7/layout/RepeatingBendingProcessNew"/>
    <dgm:cxn modelId="{D2CF1BAF-26E9-4E43-9858-D5E596692A48}" type="presOf" srcId="{F50DD446-0418-4D50-B6AD-3FB11E75610A}" destId="{6049A92E-1547-4A6E-8EC6-B9FBBEE69A11}" srcOrd="1" destOrd="0" presId="urn:microsoft.com/office/officeart/2016/7/layout/RepeatingBendingProcessNew"/>
    <dgm:cxn modelId="{4525DFBB-AB90-4CBB-97DA-B2E627522616}" srcId="{53A7711A-7954-47BC-9396-75DB0D21FE95}" destId="{7AE91E03-6C49-484E-9FAD-6E9B69E6D5EA}" srcOrd="0" destOrd="0" parTransId="{905F26D7-B8FA-4CBD-94DD-34E2DBCA767D}" sibTransId="{E18CC2B7-CF56-440F-AF1A-0598049A4B5E}"/>
    <dgm:cxn modelId="{2F9EBCCD-E0F9-43B2-BD63-A7690C9026AE}" type="presOf" srcId="{A96D9681-5552-444D-8A72-D8901C7E17C0}" destId="{E9BF9724-FE09-473C-AA80-1678CA62D37C}" srcOrd="0" destOrd="0" presId="urn:microsoft.com/office/officeart/2016/7/layout/RepeatingBendingProcessNew"/>
    <dgm:cxn modelId="{1E204FF9-3EC1-4D37-9BBA-B8A20D91179B}" type="presOf" srcId="{0FE48ADD-3D57-48E6-B0B4-8E11DD48F459}" destId="{190B81D9-4F81-41B3-9A46-558158AD3045}" srcOrd="1" destOrd="0" presId="urn:microsoft.com/office/officeart/2016/7/layout/RepeatingBendingProcessNew"/>
    <dgm:cxn modelId="{75B56A10-F889-401B-B136-2C309C244018}" type="presParOf" srcId="{75E6E8B1-BED7-46CF-B4FD-DF63AE0DE53D}" destId="{03EC7471-08FB-4008-AB84-D33714CE3CA2}" srcOrd="0" destOrd="0" presId="urn:microsoft.com/office/officeart/2016/7/layout/RepeatingBendingProcessNew"/>
    <dgm:cxn modelId="{6ACF7631-C0E5-4A90-9E8F-A4DDE1AF5468}" type="presParOf" srcId="{75E6E8B1-BED7-46CF-B4FD-DF63AE0DE53D}" destId="{DC6341B1-7011-438E-B26B-4BEF46446C9F}" srcOrd="1" destOrd="0" presId="urn:microsoft.com/office/officeart/2016/7/layout/RepeatingBendingProcessNew"/>
    <dgm:cxn modelId="{3EB36268-9B29-4D65-8CD6-622398297DE8}" type="presParOf" srcId="{DC6341B1-7011-438E-B26B-4BEF46446C9F}" destId="{CD883F3E-283F-47DC-A00C-7DEFBA453324}" srcOrd="0" destOrd="0" presId="urn:microsoft.com/office/officeart/2016/7/layout/RepeatingBendingProcessNew"/>
    <dgm:cxn modelId="{59567389-33E4-4D88-B970-FA302670EEC1}" type="presParOf" srcId="{75E6E8B1-BED7-46CF-B4FD-DF63AE0DE53D}" destId="{E9BF9724-FE09-473C-AA80-1678CA62D37C}" srcOrd="2" destOrd="0" presId="urn:microsoft.com/office/officeart/2016/7/layout/RepeatingBendingProcessNew"/>
    <dgm:cxn modelId="{ACE42300-76D0-4B7A-9F00-80AF52ED25EC}" type="presParOf" srcId="{75E6E8B1-BED7-46CF-B4FD-DF63AE0DE53D}" destId="{86A9F10E-E40B-4B82-AFC0-2777587A50B1}" srcOrd="3" destOrd="0" presId="urn:microsoft.com/office/officeart/2016/7/layout/RepeatingBendingProcessNew"/>
    <dgm:cxn modelId="{F0D84082-C89A-4A51-95E5-94F05F52990E}" type="presParOf" srcId="{86A9F10E-E40B-4B82-AFC0-2777587A50B1}" destId="{190B81D9-4F81-41B3-9A46-558158AD3045}" srcOrd="0" destOrd="0" presId="urn:microsoft.com/office/officeart/2016/7/layout/RepeatingBendingProcessNew"/>
    <dgm:cxn modelId="{02C9BB10-A86D-470B-A41C-6840B7E0B855}" type="presParOf" srcId="{75E6E8B1-BED7-46CF-B4FD-DF63AE0DE53D}" destId="{1CCD4A0B-1237-4F81-ADCF-3EF33B456DB2}" srcOrd="4" destOrd="0" presId="urn:microsoft.com/office/officeart/2016/7/layout/RepeatingBendingProcessNew"/>
    <dgm:cxn modelId="{80E45512-2B65-4C44-9098-6E43D4132396}" type="presParOf" srcId="{75E6E8B1-BED7-46CF-B4FD-DF63AE0DE53D}" destId="{78372DAC-2FA2-4CC7-8F00-55F162FD9D77}" srcOrd="5" destOrd="0" presId="urn:microsoft.com/office/officeart/2016/7/layout/RepeatingBendingProcessNew"/>
    <dgm:cxn modelId="{72F3FB98-E612-495E-976D-5CBC632A15FD}" type="presParOf" srcId="{78372DAC-2FA2-4CC7-8F00-55F162FD9D77}" destId="{719953FA-F754-41BE-B7A7-EFF9778F526A}" srcOrd="0" destOrd="0" presId="urn:microsoft.com/office/officeart/2016/7/layout/RepeatingBendingProcessNew"/>
    <dgm:cxn modelId="{344EBD0A-5213-483E-BC02-52B67D0FB10C}" type="presParOf" srcId="{75E6E8B1-BED7-46CF-B4FD-DF63AE0DE53D}" destId="{D68C2589-8367-4D3A-B974-91E3436ED52A}" srcOrd="6" destOrd="0" presId="urn:microsoft.com/office/officeart/2016/7/layout/RepeatingBendingProcessNew"/>
    <dgm:cxn modelId="{1B1EB420-F08B-4229-9014-B49FCB1097EC}" type="presParOf" srcId="{75E6E8B1-BED7-46CF-B4FD-DF63AE0DE53D}" destId="{58E20458-37FE-4521-917A-290D7CE33E22}" srcOrd="7" destOrd="0" presId="urn:microsoft.com/office/officeart/2016/7/layout/RepeatingBendingProcessNew"/>
    <dgm:cxn modelId="{934FFC98-B103-4982-A0A2-63D35A9ECBFB}" type="presParOf" srcId="{58E20458-37FE-4521-917A-290D7CE33E22}" destId="{360A966A-F02F-4A7F-ABF8-92EE7BC530B6}" srcOrd="0" destOrd="0" presId="urn:microsoft.com/office/officeart/2016/7/layout/RepeatingBendingProcessNew"/>
    <dgm:cxn modelId="{09D384A3-C2AE-4F83-9608-D9DB9D8EEA7D}" type="presParOf" srcId="{75E6E8B1-BED7-46CF-B4FD-DF63AE0DE53D}" destId="{F89D215F-A2A2-468B-B91B-F3FEE0CE961E}" srcOrd="8" destOrd="0" presId="urn:microsoft.com/office/officeart/2016/7/layout/RepeatingBendingProcessNew"/>
    <dgm:cxn modelId="{E9775322-467F-4941-A231-5241BA4DE6DC}" type="presParOf" srcId="{75E6E8B1-BED7-46CF-B4FD-DF63AE0DE53D}" destId="{E6E049D7-DD36-422C-BD52-E9EF6932C9F4}" srcOrd="9" destOrd="0" presId="urn:microsoft.com/office/officeart/2016/7/layout/RepeatingBendingProcessNew"/>
    <dgm:cxn modelId="{37F51AC8-F628-4984-8A39-700CC0EF9911}" type="presParOf" srcId="{E6E049D7-DD36-422C-BD52-E9EF6932C9F4}" destId="{6049A92E-1547-4A6E-8EC6-B9FBBEE69A11}" srcOrd="0" destOrd="0" presId="urn:microsoft.com/office/officeart/2016/7/layout/RepeatingBendingProcessNew"/>
    <dgm:cxn modelId="{ED54FAD8-4E94-47F2-ABB4-95FD6C4B155A}" type="presParOf" srcId="{75E6E8B1-BED7-46CF-B4FD-DF63AE0DE53D}" destId="{0910CB36-ED05-43DF-B7C7-E0036A5D1A4D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6341B1-7011-438E-B26B-4BEF46446C9F}">
      <dsp:nvSpPr>
        <dsp:cNvPr id="0" name=""/>
        <dsp:cNvSpPr/>
      </dsp:nvSpPr>
      <dsp:spPr>
        <a:xfrm>
          <a:off x="2022768" y="1179605"/>
          <a:ext cx="4338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3816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28066" y="1223003"/>
        <a:ext cx="23220" cy="4644"/>
      </dsp:txXfrm>
    </dsp:sp>
    <dsp:sp modelId="{03EC7471-08FB-4008-AB84-D33714CE3CA2}">
      <dsp:nvSpPr>
        <dsp:cNvPr id="0" name=""/>
        <dsp:cNvSpPr/>
      </dsp:nvSpPr>
      <dsp:spPr>
        <a:xfrm>
          <a:off x="5364" y="619564"/>
          <a:ext cx="2019204" cy="1211522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943" tIns="103858" rIns="98943" bIns="10385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Link federal records with state press releases</a:t>
          </a:r>
        </a:p>
      </dsp:txBody>
      <dsp:txXfrm>
        <a:off x="5364" y="619564"/>
        <a:ext cx="2019204" cy="1211522"/>
      </dsp:txXfrm>
    </dsp:sp>
    <dsp:sp modelId="{86A9F10E-E40B-4B82-AFC0-2777587A50B1}">
      <dsp:nvSpPr>
        <dsp:cNvPr id="0" name=""/>
        <dsp:cNvSpPr/>
      </dsp:nvSpPr>
      <dsp:spPr>
        <a:xfrm>
          <a:off x="4506389" y="1179605"/>
          <a:ext cx="4338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3816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11687" y="1223003"/>
        <a:ext cx="23220" cy="4644"/>
      </dsp:txXfrm>
    </dsp:sp>
    <dsp:sp modelId="{E9BF9724-FE09-473C-AA80-1678CA62D37C}">
      <dsp:nvSpPr>
        <dsp:cNvPr id="0" name=""/>
        <dsp:cNvSpPr/>
      </dsp:nvSpPr>
      <dsp:spPr>
        <a:xfrm>
          <a:off x="2488984" y="619564"/>
          <a:ext cx="2019204" cy="1211522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943" tIns="103858" rIns="98943" bIns="10385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Add death records from state releases to 3rd City Project via Qualtrics</a:t>
          </a:r>
        </a:p>
      </dsp:txBody>
      <dsp:txXfrm>
        <a:off x="2488984" y="619564"/>
        <a:ext cx="2019204" cy="1211522"/>
      </dsp:txXfrm>
    </dsp:sp>
    <dsp:sp modelId="{78372DAC-2FA2-4CC7-8F00-55F162FD9D77}">
      <dsp:nvSpPr>
        <dsp:cNvPr id="0" name=""/>
        <dsp:cNvSpPr/>
      </dsp:nvSpPr>
      <dsp:spPr>
        <a:xfrm>
          <a:off x="1014966" y="1829287"/>
          <a:ext cx="4967241" cy="433816"/>
        </a:xfrm>
        <a:custGeom>
          <a:avLst/>
          <a:gdLst/>
          <a:ahLst/>
          <a:cxnLst/>
          <a:rect l="0" t="0" r="0" b="0"/>
          <a:pathLst>
            <a:path>
              <a:moveTo>
                <a:pt x="4967241" y="0"/>
              </a:moveTo>
              <a:lnTo>
                <a:pt x="4967241" y="234008"/>
              </a:lnTo>
              <a:lnTo>
                <a:pt x="0" y="234008"/>
              </a:lnTo>
              <a:lnTo>
                <a:pt x="0" y="433816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73864" y="2043873"/>
        <a:ext cx="249445" cy="4644"/>
      </dsp:txXfrm>
    </dsp:sp>
    <dsp:sp modelId="{1CCD4A0B-1237-4F81-ADCF-3EF33B456DB2}">
      <dsp:nvSpPr>
        <dsp:cNvPr id="0" name=""/>
        <dsp:cNvSpPr/>
      </dsp:nvSpPr>
      <dsp:spPr>
        <a:xfrm>
          <a:off x="4972605" y="619564"/>
          <a:ext cx="2019204" cy="1211522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943" tIns="103858" rIns="98943" bIns="10385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Enhance interactive map design, add more stats, and deploy publicly</a:t>
          </a:r>
        </a:p>
      </dsp:txBody>
      <dsp:txXfrm>
        <a:off x="4972605" y="619564"/>
        <a:ext cx="2019204" cy="1211522"/>
      </dsp:txXfrm>
    </dsp:sp>
    <dsp:sp modelId="{58E20458-37FE-4521-917A-290D7CE33E22}">
      <dsp:nvSpPr>
        <dsp:cNvPr id="0" name=""/>
        <dsp:cNvSpPr/>
      </dsp:nvSpPr>
      <dsp:spPr>
        <a:xfrm>
          <a:off x="2022768" y="2855545"/>
          <a:ext cx="4338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3816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28066" y="2898943"/>
        <a:ext cx="23220" cy="4644"/>
      </dsp:txXfrm>
    </dsp:sp>
    <dsp:sp modelId="{D68C2589-8367-4D3A-B974-91E3436ED52A}">
      <dsp:nvSpPr>
        <dsp:cNvPr id="0" name=""/>
        <dsp:cNvSpPr/>
      </dsp:nvSpPr>
      <dsp:spPr>
        <a:xfrm>
          <a:off x="5364" y="2295503"/>
          <a:ext cx="2019204" cy="1211522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943" tIns="103858" rIns="98943" bIns="10385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Apply statistical/ML models where appropriate</a:t>
          </a:r>
        </a:p>
      </dsp:txBody>
      <dsp:txXfrm>
        <a:off x="5364" y="2295503"/>
        <a:ext cx="2019204" cy="1211522"/>
      </dsp:txXfrm>
    </dsp:sp>
    <dsp:sp modelId="{E6E049D7-DD36-422C-BD52-E9EF6932C9F4}">
      <dsp:nvSpPr>
        <dsp:cNvPr id="0" name=""/>
        <dsp:cNvSpPr/>
      </dsp:nvSpPr>
      <dsp:spPr>
        <a:xfrm>
          <a:off x="4506389" y="2855545"/>
          <a:ext cx="4338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3816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11687" y="2898943"/>
        <a:ext cx="23220" cy="4644"/>
      </dsp:txXfrm>
    </dsp:sp>
    <dsp:sp modelId="{F89D215F-A2A2-468B-B91B-F3FEE0CE961E}">
      <dsp:nvSpPr>
        <dsp:cNvPr id="0" name=""/>
        <dsp:cNvSpPr/>
      </dsp:nvSpPr>
      <dsp:spPr>
        <a:xfrm>
          <a:off x="2488984" y="2295503"/>
          <a:ext cx="2019204" cy="1211522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943" tIns="103858" rIns="98943" bIns="10385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Clean &amp; finalize BJA dataset (2020–2024) for EDA &amp; map integration</a:t>
          </a:r>
        </a:p>
      </dsp:txBody>
      <dsp:txXfrm>
        <a:off x="2488984" y="2295503"/>
        <a:ext cx="2019204" cy="1211522"/>
      </dsp:txXfrm>
    </dsp:sp>
    <dsp:sp modelId="{0910CB36-ED05-43DF-B7C7-E0036A5D1A4D}">
      <dsp:nvSpPr>
        <dsp:cNvPr id="0" name=""/>
        <dsp:cNvSpPr/>
      </dsp:nvSpPr>
      <dsp:spPr>
        <a:xfrm>
          <a:off x="4972605" y="2295503"/>
          <a:ext cx="2019204" cy="1211522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943" tIns="103858" rIns="98943" bIns="10385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Meet 3rd City reps to discuss improvements &amp; draft policy memo</a:t>
          </a:r>
        </a:p>
      </dsp:txBody>
      <dsp:txXfrm>
        <a:off x="4972605" y="2295503"/>
        <a:ext cx="2019204" cy="12115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1B22C-5AB7-4393-8027-193064D43A69}" type="datetimeFigureOut">
              <a:t>7/6/2025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14E1F-5B56-4E47-93C5-6137096F22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886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Sam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AF1941-19F0-4D3A-A087-CE687820E6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31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93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15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54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63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918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75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25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66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Johnathan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32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Johnathan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461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Johnathan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02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Ramil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13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Ramil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268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Ramil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04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Ramil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378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Ramil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14E1F-5B56-4E47-93C5-6137096F22EF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455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7/6/2025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630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68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74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356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76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37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2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7/6/2025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48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19703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74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1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63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39026F13-499B-4EC7-B5BA-99A52E90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pic>
        <p:nvPicPr>
          <p:cNvPr id="40" name="Picture 39" descr="Top shot of a representation of networks with stick figures.">
            <a:extLst>
              <a:ext uri="{FF2B5EF4-FFF2-40B4-BE49-F238E27FC236}">
                <a16:creationId xmlns:a16="http://schemas.microsoft.com/office/drawing/2014/main" id="{7BFF2332-5187-52C8-79AE-FFA0B68B1E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99" r="20964" b="1"/>
          <a:stretch>
            <a:fillRect/>
          </a:stretch>
        </p:blipFill>
        <p:spPr>
          <a:xfrm>
            <a:off x="616737" y="621793"/>
            <a:ext cx="4376501" cy="5614416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6D4A3EB8-C534-4357-BED1-BD1378622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BDE2CB-91F0-04FD-A0B6-0DED34AE3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3249" y="1348844"/>
            <a:ext cx="5716338" cy="2386540"/>
          </a:xfrm>
        </p:spPr>
        <p:txBody>
          <a:bodyPr vert="horz" lIns="91440" tIns="45720" rIns="91440" bIns="45720" rtlCol="0">
            <a:normAutofit/>
          </a:bodyPr>
          <a:lstStyle/>
          <a:p>
            <a:br>
              <a:rPr lang="en-US" sz="4200" b="1"/>
            </a:br>
            <a:r>
              <a:rPr lang="en-US" sz="4200" b="1"/>
              <a:t>Linking and Analyzing Data on Deaths in US Prison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58BD0-52E8-96E5-07E2-5688B3FF6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9913" y="4226979"/>
            <a:ext cx="6545886" cy="180822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b="1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/>
              <a:t>Team Members: Sam Grossman, Johnathan Ross,             Ramil Mammadov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b="1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/>
              <a:t>Project Leads: Dr. Lauren Brinkley-Rubinstein, David Cloud</a:t>
            </a:r>
            <a:endParaRPr lang="en-US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/>
              <a:t>Project Manager: Abdul Wasay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FA13F65-6422-4EBC-B70B-E95950B28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298" y="446824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4EC5015-DFE8-4264-BCD5-E4D5A3EEF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6A8CE91-4412-4504-94E5-903CCFE92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23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C3B8F69-5432-41A9-80AA-ECBDFA57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798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ap of the world with different colored countries/regions&#10;&#10;AI-generated content may be incorrect.">
            <a:extLst>
              <a:ext uri="{FF2B5EF4-FFF2-40B4-BE49-F238E27FC236}">
                <a16:creationId xmlns:a16="http://schemas.microsoft.com/office/drawing/2014/main" id="{A3B30377-129B-11CD-8D73-D941BFAE2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4439" y="-426196"/>
            <a:ext cx="13933025" cy="69031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CD64AE-0030-23D7-0DDE-42086A9F7BE8}"/>
              </a:ext>
            </a:extLst>
          </p:cNvPr>
          <p:cNvSpPr txBox="1"/>
          <p:nvPr/>
        </p:nvSpPr>
        <p:spPr>
          <a:xfrm>
            <a:off x="737505" y="5551125"/>
            <a:ext cx="652152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•</a:t>
            </a:r>
            <a:r>
              <a:rPr lang="en-US"/>
              <a:t>The US currently has between 1.9 – 2.1 million prisoners</a:t>
            </a:r>
          </a:p>
          <a:p>
            <a:r>
              <a:rPr lang="en-US">
                <a:latin typeface="Arial"/>
                <a:cs typeface="Arial"/>
              </a:rPr>
              <a:t>•</a:t>
            </a:r>
            <a:r>
              <a:rPr lang="en-US"/>
              <a:t>The US ranks  5</a:t>
            </a:r>
            <a:r>
              <a:rPr lang="en-US" baseline="30000"/>
              <a:t>th</a:t>
            </a:r>
            <a:r>
              <a:rPr lang="en-US"/>
              <a:t> in prisoners per capita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88A8-DC0E-A4DC-65A0-AEE856644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200" y="411600"/>
            <a:ext cx="4675341" cy="1306839"/>
          </a:xfrm>
        </p:spPr>
        <p:txBody>
          <a:bodyPr>
            <a:normAutofit/>
          </a:bodyPr>
          <a:lstStyle/>
          <a:p>
            <a:r>
              <a:rPr lang="en-US" b="1"/>
              <a:t>How We Got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98321-BEF6-E447-BEE4-497D87FD7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366" y="2038102"/>
            <a:ext cx="4375001" cy="40645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Only 200,000 US prisoners in 1970 compared to around 2 million today.</a:t>
            </a:r>
          </a:p>
          <a:p>
            <a:r>
              <a:rPr lang="en-US" sz="2000"/>
              <a:t>1970’s: War on drugs, “Tough on Crime” policies.</a:t>
            </a:r>
          </a:p>
          <a:p>
            <a:r>
              <a:rPr lang="en-US" sz="2000"/>
              <a:t>1980’s and 1990’s: Mandatory minimum sentencing, Three strikes Laws, Harsher restrictions on parole.</a:t>
            </a:r>
          </a:p>
          <a:p>
            <a:r>
              <a:rPr lang="en-US" sz="2000"/>
              <a:t>32% of the US prison population is Black, 68% of the prison population is from a minority group.</a:t>
            </a:r>
          </a:p>
          <a:p>
            <a:endParaRPr lang="en-US" sz="1700"/>
          </a:p>
        </p:txBody>
      </p:sp>
      <p:pic>
        <p:nvPicPr>
          <p:cNvPr id="3074" name="Picture 2" descr="One chart that puts mass inarceration in historical context - ZNetwork">
            <a:extLst>
              <a:ext uri="{FF2B5EF4-FFF2-40B4-BE49-F238E27FC236}">
                <a16:creationId xmlns:a16="http://schemas.microsoft.com/office/drawing/2014/main" id="{B722576E-96C4-6F4E-7892-94BDF1F5E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67"/>
          <a:stretch>
            <a:fillRect/>
          </a:stretch>
        </p:blipFill>
        <p:spPr bwMode="auto">
          <a:xfrm>
            <a:off x="5656320" y="661916"/>
            <a:ext cx="5733415" cy="5557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427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ow Atrocious Prisons Conditions Make ...">
            <a:extLst>
              <a:ext uri="{FF2B5EF4-FFF2-40B4-BE49-F238E27FC236}">
                <a16:creationId xmlns:a16="http://schemas.microsoft.com/office/drawing/2014/main" id="{AAC5B413-9E12-9E60-1828-5308DCAC8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6" r="1178"/>
          <a:stretch>
            <a:fillRect/>
          </a:stretch>
        </p:blipFill>
        <p:spPr bwMode="auto">
          <a:xfrm>
            <a:off x="5589357" y="10"/>
            <a:ext cx="6602653" cy="3428990"/>
          </a:xfrm>
          <a:custGeom>
            <a:avLst/>
            <a:gdLst/>
            <a:ahLst/>
            <a:cxnLst/>
            <a:rect l="l" t="t" r="r" b="b"/>
            <a:pathLst>
              <a:path w="6602653" h="3387852">
                <a:moveTo>
                  <a:pt x="0" y="0"/>
                </a:moveTo>
                <a:lnTo>
                  <a:pt x="6602653" y="0"/>
                </a:lnTo>
                <a:lnTo>
                  <a:pt x="6602653" y="3387852"/>
                </a:lnTo>
                <a:lnTo>
                  <a:pt x="1651528" y="3387852"/>
                </a:lnTo>
                <a:lnTo>
                  <a:pt x="1650315" y="3337395"/>
                </a:lnTo>
                <a:cubicBezTo>
                  <a:pt x="1582116" y="1928213"/>
                  <a:pt x="1005803" y="708413"/>
                  <a:pt x="22589" y="1499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Prison Conditions">
            <a:extLst>
              <a:ext uri="{FF2B5EF4-FFF2-40B4-BE49-F238E27FC236}">
                <a16:creationId xmlns:a16="http://schemas.microsoft.com/office/drawing/2014/main" id="{F43B28DF-2492-716C-8003-A419EEEB4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62" b="5405"/>
          <a:stretch>
            <a:fillRect/>
          </a:stretch>
        </p:blipFill>
        <p:spPr bwMode="auto">
          <a:xfrm>
            <a:off x="4691108" y="3429000"/>
            <a:ext cx="7500882" cy="3429000"/>
          </a:xfrm>
          <a:custGeom>
            <a:avLst/>
            <a:gdLst/>
            <a:ahLst/>
            <a:cxnLst/>
            <a:rect l="l" t="t" r="r" b="b"/>
            <a:pathLst>
              <a:path w="7500882" h="3387852">
                <a:moveTo>
                  <a:pt x="2551735" y="0"/>
                </a:moveTo>
                <a:lnTo>
                  <a:pt x="7500882" y="0"/>
                </a:lnTo>
                <a:lnTo>
                  <a:pt x="7500882" y="3387852"/>
                </a:lnTo>
                <a:lnTo>
                  <a:pt x="0" y="3387852"/>
                </a:lnTo>
                <a:lnTo>
                  <a:pt x="114106" y="3310451"/>
                </a:lnTo>
                <a:cubicBezTo>
                  <a:pt x="291579" y="3182960"/>
                  <a:pt x="465794" y="3045249"/>
                  <a:pt x="641619" y="2904666"/>
                </a:cubicBezTo>
                <a:cubicBezTo>
                  <a:pt x="1607125" y="2132691"/>
                  <a:pt x="2555378" y="1498983"/>
                  <a:pt x="2555378" y="15150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280BBA-0D43-D23A-22B1-A12741E41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539087"/>
            <a:ext cx="4916424" cy="1543714"/>
          </a:xfrm>
        </p:spPr>
        <p:txBody>
          <a:bodyPr anchor="b">
            <a:normAutofit/>
          </a:bodyPr>
          <a:lstStyle/>
          <a:p>
            <a:r>
              <a:rPr lang="en-US" sz="3600" b="1"/>
              <a:t>The Prison System Itself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7E302-4A84-6D1B-3112-1637DE46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2169994"/>
            <a:ext cx="5537570" cy="379424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/>
              <a:t>Issues in the US Prison System include:</a:t>
            </a:r>
          </a:p>
          <a:p>
            <a:pPr marL="0" indent="0">
              <a:buNone/>
            </a:pPr>
            <a:endParaRPr lang="en-US"/>
          </a:p>
          <a:p>
            <a:pPr lvl="1"/>
            <a:r>
              <a:rPr lang="en-US"/>
              <a:t>Overcrowding</a:t>
            </a:r>
          </a:p>
          <a:p>
            <a:pPr marL="457200" lvl="1" indent="0">
              <a:buNone/>
            </a:pPr>
            <a:endParaRPr lang="en-US"/>
          </a:p>
          <a:p>
            <a:pPr lvl="1"/>
            <a:r>
              <a:rPr lang="en-US"/>
              <a:t>Health concerns and limited to no access to healthcare</a:t>
            </a:r>
          </a:p>
          <a:p>
            <a:pPr lvl="1"/>
            <a:endParaRPr lang="en-US"/>
          </a:p>
          <a:p>
            <a:pPr lvl="1"/>
            <a:r>
              <a:rPr lang="en-US"/>
              <a:t>Physical and mental abuses</a:t>
            </a:r>
          </a:p>
          <a:p>
            <a:pPr lvl="1"/>
            <a:endParaRPr lang="en-US"/>
          </a:p>
          <a:p>
            <a:pPr lvl="1"/>
            <a:r>
              <a:rPr lang="en-US"/>
              <a:t>Post-release problems</a:t>
            </a:r>
          </a:p>
          <a:p>
            <a:pPr lvl="1"/>
            <a:endParaRPr lang="en-US"/>
          </a:p>
          <a:p>
            <a:pPr lvl="1"/>
            <a:r>
              <a:rPr lang="en-US"/>
              <a:t>And more</a:t>
            </a:r>
          </a:p>
        </p:txBody>
      </p:sp>
    </p:spTree>
    <p:extLst>
      <p:ext uri="{BB962C8B-B14F-4D97-AF65-F5344CB8AC3E}">
        <p14:creationId xmlns:p14="http://schemas.microsoft.com/office/powerpoint/2010/main" val="251009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blue and yellow emblem with a white background&#10;&#10;AI-generated content may be incorrect.">
            <a:extLst>
              <a:ext uri="{FF2B5EF4-FFF2-40B4-BE49-F238E27FC236}">
                <a16:creationId xmlns:a16="http://schemas.microsoft.com/office/drawing/2014/main" id="{F8E7E4AF-C45E-F74D-B003-D68EB9C1BF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62204" y="780850"/>
            <a:ext cx="9411505" cy="529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140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8C163-D100-FEE0-BB2B-CB926920A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b="1"/>
              <a:t>Third City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1D1E8-650D-F6CF-D6EE-3472D0FA4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2000"/>
              <a:t>Our project is part of Third City Project’s research</a:t>
            </a:r>
          </a:p>
          <a:p>
            <a:r>
              <a:rPr lang="en-US" sz="2000"/>
              <a:t>“The Third City Project promotes data transparency for the complete physical, mental, and social well-being of individuals and communities impacted by the criminal legal system, shining light on data behind its walls.”</a:t>
            </a:r>
          </a:p>
          <a:p>
            <a:endParaRPr lang="en-US" sz="2000"/>
          </a:p>
          <a:p>
            <a:endParaRPr lang="en-US" sz="2000"/>
          </a:p>
        </p:txBody>
      </p:sp>
      <p:pic>
        <p:nvPicPr>
          <p:cNvPr id="1028" name="Picture 4" descr="Third City Project (@3rdcityproject) / X">
            <a:extLst>
              <a:ext uri="{FF2B5EF4-FFF2-40B4-BE49-F238E27FC236}">
                <a16:creationId xmlns:a16="http://schemas.microsoft.com/office/drawing/2014/main" id="{0CE59CFA-5855-AD91-0A4C-30D652A72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 bwMode="auto">
          <a:xfrm>
            <a:off x="6800986" y="1069398"/>
            <a:ext cx="4747547" cy="4747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30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A83416-A030-CB55-42B9-C55BB83C1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3EFBA-0C98-04C7-AB2D-CF7B4FF8A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sz="4800" b="1">
                <a:latin typeface="Aptos Display"/>
                <a:cs typeface="Times New Roman"/>
              </a:rPr>
              <a:t>Examples of Research questions:</a:t>
            </a:r>
            <a:endParaRPr lang="en-US" sz="4800" b="1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E48C2-2FF7-52A6-CC77-81CC1BE39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034" y="2198362"/>
            <a:ext cx="5846966" cy="391777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/>
            </a:pPr>
            <a:r>
              <a:rPr lang="en-US" sz="1700" b="1">
                <a:latin typeface="Aptos Display"/>
                <a:cs typeface="Times New Roman"/>
              </a:rPr>
              <a:t>R1:</a:t>
            </a:r>
            <a:r>
              <a:rPr lang="en-US" sz="1700">
                <a:latin typeface="Aptos Display"/>
                <a:cs typeface="Times New Roman"/>
              </a:rPr>
              <a:t> What share of deaths in the BJA file appear in state press releases?</a:t>
            </a:r>
            <a:endParaRPr lang="en-US" sz="1700">
              <a:latin typeface="Aptos Display"/>
            </a:endParaRPr>
          </a:p>
          <a:p>
            <a:pPr>
              <a:buFont typeface="Arial"/>
            </a:pPr>
            <a:r>
              <a:rPr lang="en-US" sz="1700" b="1">
                <a:latin typeface="Aptos Display"/>
                <a:cs typeface="Times New Roman"/>
              </a:rPr>
              <a:t>R2:</a:t>
            </a:r>
            <a:r>
              <a:rPr lang="en-US" sz="1700">
                <a:latin typeface="Aptos Display"/>
                <a:cs typeface="Times New Roman"/>
              </a:rPr>
              <a:t> How often does a press-release cause match the vital-records cause?</a:t>
            </a:r>
            <a:endParaRPr lang="en-US" sz="1700">
              <a:latin typeface="Aptos Display"/>
            </a:endParaRPr>
          </a:p>
          <a:p>
            <a:pPr>
              <a:buFont typeface="Arial"/>
            </a:pPr>
            <a:r>
              <a:rPr lang="en-US" sz="1700" b="1">
                <a:latin typeface="Aptos Display"/>
                <a:cs typeface="Times New Roman"/>
              </a:rPr>
              <a:t>R3:</a:t>
            </a:r>
            <a:r>
              <a:rPr lang="en-US" sz="1700">
                <a:latin typeface="Aptos Display"/>
                <a:cs typeface="Times New Roman"/>
              </a:rPr>
              <a:t> Which states release death notices within 30 days, and which take longer?</a:t>
            </a:r>
            <a:endParaRPr lang="en-US" sz="1700">
              <a:latin typeface="Aptos Display"/>
            </a:endParaRPr>
          </a:p>
          <a:p>
            <a:pPr>
              <a:buFont typeface="Arial"/>
            </a:pPr>
            <a:r>
              <a:rPr lang="en-US" sz="1700" b="1">
                <a:latin typeface="Aptos Display"/>
                <a:cs typeface="Times New Roman"/>
              </a:rPr>
              <a:t>R4:</a:t>
            </a:r>
            <a:r>
              <a:rPr lang="en-US" sz="1700">
                <a:latin typeface="Aptos Display"/>
                <a:cs typeface="Times New Roman"/>
              </a:rPr>
              <a:t> Are certain age groups or races more likely to have missing or delayed records?</a:t>
            </a:r>
            <a:endParaRPr lang="en-US" sz="1700">
              <a:latin typeface="Aptos Display"/>
            </a:endParaRPr>
          </a:p>
          <a:p>
            <a:pPr>
              <a:buFont typeface="Arial"/>
            </a:pPr>
            <a:r>
              <a:rPr lang="en-US" sz="1700" b="1">
                <a:latin typeface="Aptos Display"/>
                <a:cs typeface="Times New Roman"/>
              </a:rPr>
              <a:t>R5:</a:t>
            </a:r>
            <a:r>
              <a:rPr lang="en-US" sz="1700">
                <a:latin typeface="Aptos Display"/>
                <a:cs typeface="Times New Roman"/>
              </a:rPr>
              <a:t> Do privately run prisons differ from state-run prisons in reporting speed or accuracy?</a:t>
            </a:r>
            <a:endParaRPr lang="en-US" sz="1700">
              <a:latin typeface="Aptos Display"/>
            </a:endParaRPr>
          </a:p>
          <a:p>
            <a:pPr>
              <a:buFont typeface="Arial"/>
            </a:pPr>
            <a:r>
              <a:rPr lang="en-US" sz="1700" b="1">
                <a:latin typeface="Aptos Display"/>
                <a:cs typeface="Times New Roman"/>
              </a:rPr>
              <a:t>R6:</a:t>
            </a:r>
            <a:r>
              <a:rPr lang="en-US" sz="1700">
                <a:latin typeface="Aptos Display"/>
                <a:cs typeface="Times New Roman"/>
              </a:rPr>
              <a:t> Can unsupervised clustering reveal hidden patterns (Exp, facilities with similar profiles of overdose, violence, or medical deaths)?</a:t>
            </a:r>
            <a:endParaRPr lang="en-US" sz="1700">
              <a:latin typeface="Aptos Display"/>
            </a:endParaRPr>
          </a:p>
          <a:p>
            <a:pPr marL="0" indent="0">
              <a:buNone/>
            </a:pPr>
            <a:endParaRPr lang="en-US" sz="1700">
              <a:latin typeface="Aptos Display"/>
            </a:endParaRPr>
          </a:p>
        </p:txBody>
      </p:sp>
      <p:pic>
        <p:nvPicPr>
          <p:cNvPr id="4" name="Picture 3" descr="A group of icons with a map and a building&#10;&#10;AI-generated content may be incorrect.">
            <a:extLst>
              <a:ext uri="{FF2B5EF4-FFF2-40B4-BE49-F238E27FC236}">
                <a16:creationId xmlns:a16="http://schemas.microsoft.com/office/drawing/2014/main" id="{5B800122-7FE9-64BE-8DD4-894EA6BEE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464708"/>
            <a:ext cx="4788505" cy="319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270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C5603-E7A8-2B29-66C6-2E14DBDB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b="1"/>
              <a:t>Analysis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726E2-636E-884A-A431-15441322C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• Data-cleaning and validation steps.</a:t>
            </a: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• Statistical or ML approach (e.g., Python/R EDA, clustering, regression).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• Planned visualizations or dashboards.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• Any software, packages, or reproducibility notes.</a:t>
            </a:r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1519A9-58EB-C8D1-2E24-1CE823AF5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386592"/>
            <a:ext cx="6155141" cy="410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30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9AF11-7E2C-4796-7743-6DE6B9048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A9280-A504-E0E2-EA62-B218BB2CC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8" y="609597"/>
            <a:ext cx="8903433" cy="1330841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What’s “Cool” about the Project?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AE0C2-CD4C-BE61-0FEA-0FC555C0D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8" y="2194100"/>
            <a:ext cx="5126303" cy="3908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2400" b="1">
                <a:latin typeface="Aptos Display"/>
                <a:ea typeface="+mn-lt"/>
                <a:cs typeface="+mn-lt"/>
              </a:rPr>
              <a:t>Live check:</a:t>
            </a:r>
            <a:r>
              <a:rPr lang="en-US" sz="2400">
                <a:latin typeface="Aptos Display"/>
                <a:ea typeface="+mn-lt"/>
                <a:cs typeface="+mn-lt"/>
              </a:rPr>
              <a:t> to match press releases with federal counts</a:t>
            </a:r>
            <a:endParaRPr lang="en-US" sz="2400">
              <a:latin typeface="Aptos Display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2400" b="1">
                <a:latin typeface="Aptos Display"/>
                <a:ea typeface="+mn-lt"/>
                <a:cs typeface="+mn-lt"/>
              </a:rPr>
              <a:t>Instant alerts:</a:t>
            </a:r>
            <a:r>
              <a:rPr lang="en-US" sz="2400">
                <a:latin typeface="Aptos Display"/>
                <a:ea typeface="+mn-lt"/>
                <a:cs typeface="+mn-lt"/>
              </a:rPr>
              <a:t> dashboards flag overdose spikes fast</a:t>
            </a:r>
            <a:endParaRPr lang="en-US" sz="2400">
              <a:latin typeface="Aptos Display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2400" b="1">
                <a:latin typeface="Aptos Display"/>
                <a:ea typeface="+mn-lt"/>
                <a:cs typeface="+mn-lt"/>
              </a:rPr>
              <a:t>Policy fuel:</a:t>
            </a:r>
            <a:r>
              <a:rPr lang="en-US" sz="2400">
                <a:latin typeface="Aptos Display"/>
                <a:ea typeface="+mn-lt"/>
                <a:cs typeface="+mn-lt"/>
              </a:rPr>
              <a:t> linked data pushes for quicker, fuller reporting</a:t>
            </a:r>
            <a:endParaRPr lang="en-US" sz="2400">
              <a:latin typeface="Aptos Display"/>
            </a:endParaRPr>
          </a:p>
          <a:p>
            <a:pPr marL="0" indent="0">
              <a:buNone/>
            </a:pPr>
            <a:endParaRPr lang="en-US" sz="2000">
              <a:latin typeface="Aptos Display"/>
            </a:endParaRPr>
          </a:p>
        </p:txBody>
      </p:sp>
      <p:pic>
        <p:nvPicPr>
          <p:cNvPr id="4" name="Picture 3" descr="A computer screen with a diagram and a building&#10;&#10;AI-generated content may be incorrect.">
            <a:extLst>
              <a:ext uri="{FF2B5EF4-FFF2-40B4-BE49-F238E27FC236}">
                <a16:creationId xmlns:a16="http://schemas.microsoft.com/office/drawing/2014/main" id="{C680F2C6-6D39-741D-A33D-EFFE67EC0B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19" r="16856"/>
          <a:stretch>
            <a:fillRect/>
          </a:stretch>
        </p:blipFill>
        <p:spPr>
          <a:xfrm>
            <a:off x="7016376" y="2183362"/>
            <a:ext cx="4357896" cy="373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02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6B6D2-CE84-64A3-34A8-C703DC03B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36" y="457200"/>
            <a:ext cx="4691400" cy="1929384"/>
          </a:xfrm>
        </p:spPr>
        <p:txBody>
          <a:bodyPr anchor="ctr"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State Hotspots &amp; Year-to-Year Swings (2020-23)</a:t>
            </a:r>
            <a:endParaRPr lang="en-US" sz="3200" b="1"/>
          </a:p>
          <a:p>
            <a:endParaRPr lang="en-US" sz="41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8FD91-D3F6-1B90-B0DD-00DA2AD20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2000">
                <a:ea typeface="+mn-lt"/>
                <a:cs typeface="+mn-lt"/>
              </a:rPr>
              <a:t>Year-to-year swings: deaths +22 % in 2021, −12 % in 2022, then +10 % in 2023. Net result - about 6.7 k deaths in 2023, up </a:t>
            </a:r>
            <a:r>
              <a:rPr lang="en-US" sz="2000" b="1">
                <a:ea typeface="+mn-lt"/>
                <a:cs typeface="+mn-lt"/>
              </a:rPr>
              <a:t>18 %</a:t>
            </a:r>
            <a:r>
              <a:rPr lang="en-US" sz="2000">
                <a:ea typeface="+mn-lt"/>
                <a:cs typeface="+mn-lt"/>
              </a:rPr>
              <a:t> vs 2020.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sz="2000">
                <a:ea typeface="+mn-lt"/>
                <a:cs typeface="+mn-lt"/>
              </a:rPr>
              <a:t>Deaths cluster in a few states - Texas tops the list (≈3.3 k / 13%), and the ten highest-count states make up </a:t>
            </a:r>
            <a:r>
              <a:rPr lang="en-US" sz="2000" b="1">
                <a:ea typeface="+mn-lt"/>
                <a:cs typeface="+mn-lt"/>
              </a:rPr>
              <a:t>50 %+</a:t>
            </a:r>
            <a:r>
              <a:rPr lang="en-US" sz="2000">
                <a:ea typeface="+mn-lt"/>
                <a:cs typeface="+mn-lt"/>
              </a:rPr>
              <a:t> of all prison deaths.</a:t>
            </a:r>
            <a:endParaRPr lang="en-US" sz="2000"/>
          </a:p>
        </p:txBody>
      </p:sp>
      <p:pic>
        <p:nvPicPr>
          <p:cNvPr id="8" name="Picture 7" descr="A graph of a prison death&#10;&#10;AI-generated content may be incorrect.">
            <a:extLst>
              <a:ext uri="{FF2B5EF4-FFF2-40B4-BE49-F238E27FC236}">
                <a16:creationId xmlns:a16="http://schemas.microsoft.com/office/drawing/2014/main" id="{CD4CD595-B7FB-0868-2E65-5BC6FE610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713817"/>
            <a:ext cx="5468112" cy="3390229"/>
          </a:xfrm>
          <a:prstGeom prst="rect">
            <a:avLst/>
          </a:prstGeom>
        </p:spPr>
      </p:pic>
      <p:pic>
        <p:nvPicPr>
          <p:cNvPr id="6" name="Picture 5" descr="A graph of the number of deaths&#10;&#10;AI-generated content may be incorrect.">
            <a:extLst>
              <a:ext uri="{FF2B5EF4-FFF2-40B4-BE49-F238E27FC236}">
                <a16:creationId xmlns:a16="http://schemas.microsoft.com/office/drawing/2014/main" id="{1F2F8D7A-5918-3332-1C84-9DE484441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713817"/>
            <a:ext cx="5468112" cy="339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521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B73E0-B3CB-679F-3F55-DA07C6C1D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170432"/>
          </a:xfrm>
        </p:spPr>
        <p:txBody>
          <a:bodyPr anchor="b"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Race &amp; Sex Disparities in Prison Deaths (2020-23)</a:t>
            </a:r>
            <a:endParaRPr lang="en-US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B079E-9434-15C9-E6B7-A1D5BC6B3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1800">
                <a:ea typeface="+mn-lt"/>
                <a:cs typeface="+mn-lt"/>
              </a:rPr>
              <a:t>Deaths are highly concentrated among White prisoners (</a:t>
            </a:r>
            <a:r>
              <a:rPr lang="en-US" sz="1800" b="1">
                <a:ea typeface="+mn-lt"/>
                <a:cs typeface="+mn-lt"/>
              </a:rPr>
              <a:t>≈14 k</a:t>
            </a:r>
            <a:r>
              <a:rPr lang="en-US" sz="1800">
                <a:ea typeface="+mn-lt"/>
                <a:cs typeface="+mn-lt"/>
              </a:rPr>
              <a:t>) followed by Black/African-American (</a:t>
            </a:r>
            <a:r>
              <a:rPr lang="en-US" sz="1800" b="1">
                <a:ea typeface="+mn-lt"/>
                <a:cs typeface="+mn-lt"/>
              </a:rPr>
              <a:t>≈8 k</a:t>
            </a:r>
            <a:r>
              <a:rPr lang="en-US" sz="1800">
                <a:ea typeface="+mn-lt"/>
                <a:cs typeface="+mn-lt"/>
              </a:rPr>
              <a:t>); other races are an order of magnitude lower.</a:t>
            </a:r>
            <a:endParaRPr lang="en-US" sz="1800"/>
          </a:p>
          <a:p>
            <a:pPr>
              <a:buFont typeface="Wingdings" panose="020B0604020202020204" pitchFamily="34" charset="0"/>
              <a:buChar char="Ø"/>
            </a:pPr>
            <a:r>
              <a:rPr lang="en-US" sz="1800">
                <a:ea typeface="+mn-lt"/>
                <a:cs typeface="+mn-lt"/>
              </a:rPr>
              <a:t>Sex split shows the same ranking but different weights: among males the share is </a:t>
            </a:r>
            <a:r>
              <a:rPr lang="en-US" sz="1800" b="1">
                <a:ea typeface="+mn-lt"/>
                <a:cs typeface="+mn-lt"/>
              </a:rPr>
              <a:t>55 %</a:t>
            </a:r>
            <a:r>
              <a:rPr lang="en-US" sz="1800">
                <a:ea typeface="+mn-lt"/>
                <a:cs typeface="+mn-lt"/>
              </a:rPr>
              <a:t> White / </a:t>
            </a:r>
            <a:r>
              <a:rPr lang="en-US" sz="1800" b="1">
                <a:ea typeface="+mn-lt"/>
                <a:cs typeface="+mn-lt"/>
              </a:rPr>
              <a:t>31 %</a:t>
            </a:r>
            <a:r>
              <a:rPr lang="en-US" sz="1800">
                <a:ea typeface="+mn-lt"/>
                <a:cs typeface="+mn-lt"/>
              </a:rPr>
              <a:t> Black, while among females it skews even more White (</a:t>
            </a:r>
            <a:r>
              <a:rPr lang="en-US" sz="1800" b="1">
                <a:ea typeface="+mn-lt"/>
                <a:cs typeface="+mn-lt"/>
              </a:rPr>
              <a:t>63 %</a:t>
            </a:r>
            <a:r>
              <a:rPr lang="en-US" sz="1800">
                <a:ea typeface="+mn-lt"/>
                <a:cs typeface="+mn-lt"/>
              </a:rPr>
              <a:t>) with a smaller Black share (</a:t>
            </a:r>
            <a:r>
              <a:rPr lang="en-US" sz="1800" b="1">
                <a:ea typeface="+mn-lt"/>
                <a:cs typeface="+mn-lt"/>
              </a:rPr>
              <a:t>23 %</a:t>
            </a:r>
            <a:r>
              <a:rPr lang="en-US" sz="1800">
                <a:ea typeface="+mn-lt"/>
                <a:cs typeface="+mn-lt"/>
              </a:rPr>
              <a:t>).</a:t>
            </a:r>
            <a:endParaRPr lang="en-US" sz="1800" b="1"/>
          </a:p>
        </p:txBody>
      </p:sp>
      <p:pic>
        <p:nvPicPr>
          <p:cNvPr id="6" name="Picture 5" descr="A graph of death by race&#10;&#10;AI-generated content may be incorrect.">
            <a:extLst>
              <a:ext uri="{FF2B5EF4-FFF2-40B4-BE49-F238E27FC236}">
                <a16:creationId xmlns:a16="http://schemas.microsoft.com/office/drawing/2014/main" id="{BC18BF67-215E-7A73-2F13-02DDA06F3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479" y="386589"/>
            <a:ext cx="6042037" cy="26524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28F2E9-3A45-6FFD-54E1-2CA3331AD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645" y="3545668"/>
            <a:ext cx="6020871" cy="252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67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86988-7576-2FFB-7CF7-91DD5C21D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00" y="3884449"/>
            <a:ext cx="4215063" cy="2398712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Prison Mortality Snapshot (2020-23)</a:t>
            </a:r>
            <a:endParaRPr lang="en-US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6B98E-5FA8-CA90-79E7-7A1A14131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706" y="3884449"/>
            <a:ext cx="7106093" cy="29627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1800">
                <a:ea typeface="+mn-lt"/>
                <a:cs typeface="+mn-lt"/>
              </a:rPr>
              <a:t>Natural causes dominate (</a:t>
            </a:r>
            <a:r>
              <a:rPr lang="en-US" sz="1800" b="1">
                <a:ea typeface="+mn-lt"/>
                <a:cs typeface="+mn-lt"/>
              </a:rPr>
              <a:t>≈13 k</a:t>
            </a:r>
            <a:r>
              <a:rPr lang="en-US" sz="1800">
                <a:ea typeface="+mn-lt"/>
                <a:cs typeface="+mn-lt"/>
              </a:rPr>
              <a:t>). Pending investigations, suicide and force-related cases make up the next tier; executions and homicides are rare.</a:t>
            </a:r>
            <a:endParaRPr lang="en-US" sz="1800"/>
          </a:p>
          <a:p>
            <a:pPr>
              <a:buFont typeface="Wingdings" panose="020B0604020202020204" pitchFamily="34" charset="0"/>
              <a:buChar char="Ø"/>
            </a:pPr>
            <a:r>
              <a:rPr lang="en-US" sz="1800">
                <a:ea typeface="+mn-lt"/>
                <a:cs typeface="+mn-lt"/>
              </a:rPr>
              <a:t>Most decedents were </a:t>
            </a:r>
            <a:r>
              <a:rPr lang="en-US" sz="1800" b="1">
                <a:ea typeface="+mn-lt"/>
                <a:cs typeface="+mn-lt"/>
              </a:rPr>
              <a:t>40-70 yrs</a:t>
            </a:r>
            <a:r>
              <a:rPr lang="en-US" sz="1800">
                <a:ea typeface="+mn-lt"/>
                <a:cs typeface="+mn-lt"/>
              </a:rPr>
              <a:t>; deaths peak in the late-50s / early-60s and drop sharply after 80.</a:t>
            </a:r>
            <a:endParaRPr lang="en-US" sz="1800"/>
          </a:p>
          <a:p>
            <a:pPr>
              <a:buFont typeface="Wingdings" panose="020B0604020202020204" pitchFamily="34" charset="0"/>
              <a:buChar char="Ø"/>
            </a:pPr>
            <a:r>
              <a:rPr lang="en-US" sz="1800">
                <a:ea typeface="+mn-lt"/>
                <a:cs typeface="+mn-lt"/>
              </a:rPr>
              <a:t>Overwhelmingly in state prisons (</a:t>
            </a:r>
            <a:r>
              <a:rPr lang="en-US" sz="1800" b="1">
                <a:ea typeface="+mn-lt"/>
                <a:cs typeface="+mn-lt"/>
              </a:rPr>
              <a:t>≈16 k</a:t>
            </a:r>
            <a:r>
              <a:rPr lang="en-US" sz="1800">
                <a:ea typeface="+mn-lt"/>
                <a:cs typeface="+mn-lt"/>
              </a:rPr>
              <a:t>). Jail and state/local law-enforcement facilities each add ≈3-4 k, while community-corrections deaths are negligible.</a:t>
            </a:r>
            <a:endParaRPr lang="en-US" sz="1800"/>
          </a:p>
          <a:p>
            <a:pPr>
              <a:buFont typeface="Wingdings" panose="020B0604020202020204" pitchFamily="34" charset="0"/>
              <a:buChar char="Ø"/>
            </a:pPr>
            <a:endParaRPr lang="en-US" sz="1800"/>
          </a:p>
          <a:p>
            <a:pPr>
              <a:buFont typeface="Wingdings" panose="020B0604020202020204" pitchFamily="34" charset="0"/>
              <a:buChar char="Ø"/>
            </a:pPr>
            <a:endParaRPr 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22320E-13BA-167C-796A-B13535B10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" y="0"/>
            <a:ext cx="4395318" cy="3309057"/>
          </a:xfrm>
          <a:prstGeom prst="rect">
            <a:avLst/>
          </a:prstGeom>
        </p:spPr>
      </p:pic>
      <p:pic>
        <p:nvPicPr>
          <p:cNvPr id="6" name="Picture 5" descr="A graph of age distribution&#10;&#10;AI-generated content may be incorrect.">
            <a:extLst>
              <a:ext uri="{FF2B5EF4-FFF2-40B4-BE49-F238E27FC236}">
                <a16:creationId xmlns:a16="http://schemas.microsoft.com/office/drawing/2014/main" id="{C1FFBE98-2564-9B36-A1F9-18060FC02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387" y="0"/>
            <a:ext cx="3651227" cy="2730000"/>
          </a:xfrm>
          <a:prstGeom prst="rect">
            <a:avLst/>
          </a:prstGeom>
        </p:spPr>
      </p:pic>
      <p:pic>
        <p:nvPicPr>
          <p:cNvPr id="8" name="Picture 7" descr="A graph of a number of deaths&#10;&#10;AI-generated content may be incorrect.">
            <a:extLst>
              <a:ext uri="{FF2B5EF4-FFF2-40B4-BE49-F238E27FC236}">
                <a16:creationId xmlns:a16="http://schemas.microsoft.com/office/drawing/2014/main" id="{435E120C-8043-FD80-93BE-B11FC3883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627" y="0"/>
            <a:ext cx="4070746" cy="30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93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B09B5-5319-4D6B-D7C9-F32E22F4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Updates after Talk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B9F94-1226-D5EC-9F82-AA54F478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464429" cy="393192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Clr>
                <a:srgbClr val="262626"/>
              </a:buClr>
              <a:buFont typeface="Wingdings" pitchFamily="18" charset="0"/>
              <a:buChar char="ü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Built a table of </a:t>
            </a:r>
            <a:r>
              <a:rPr lang="en-US" sz="2400" b="1">
                <a:solidFill>
                  <a:srgbClr val="262626"/>
                </a:solidFill>
                <a:ea typeface="+mn-lt"/>
                <a:cs typeface="+mn-lt"/>
              </a:rPr>
              <a:t>Independent Oversight Agencies</a:t>
            </a: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for correctional facilities by jurisdiction</a:t>
            </a:r>
            <a:endParaRPr lang="en-US">
              <a:solidFill>
                <a:srgbClr val="000000"/>
              </a:solidFill>
            </a:endParaRPr>
          </a:p>
          <a:p>
            <a:pPr>
              <a:buClr>
                <a:srgbClr val="262626"/>
              </a:buClr>
              <a:buFont typeface="Wingdings" pitchFamily="18" charset="0"/>
              <a:buChar char="ü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Built a table of </a:t>
            </a:r>
            <a:r>
              <a:rPr lang="en-US" sz="2400" b="1">
                <a:solidFill>
                  <a:srgbClr val="262626"/>
                </a:solidFill>
                <a:ea typeface="+mn-lt"/>
                <a:cs typeface="+mn-lt"/>
              </a:rPr>
              <a:t>Death in Custody Reporting Laws and Compliance</a:t>
            </a: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by jurisdiction</a:t>
            </a:r>
            <a:endParaRPr lang="en-US"/>
          </a:p>
          <a:p>
            <a:pPr>
              <a:buClr>
                <a:srgbClr val="262626"/>
              </a:buClr>
              <a:buFont typeface="Wingdings" pitchFamily="18" charset="0"/>
              <a:buChar char="ü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Updated data sources</a:t>
            </a:r>
            <a:endParaRPr lang="en-US"/>
          </a:p>
          <a:p>
            <a:pPr>
              <a:buClr>
                <a:srgbClr val="262626"/>
              </a:buClr>
              <a:buFont typeface="Wingdings" pitchFamily="18" charset="0"/>
              <a:buChar char="ü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Conducted </a:t>
            </a:r>
            <a:r>
              <a:rPr lang="en-US" sz="2400" b="1">
                <a:solidFill>
                  <a:srgbClr val="262626"/>
                </a:solidFill>
                <a:ea typeface="+mn-lt"/>
                <a:cs typeface="+mn-lt"/>
              </a:rPr>
              <a:t>Exploratory Data Analysis (EDA)</a:t>
            </a: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on the merged BJA + BJS dataset</a:t>
            </a:r>
            <a:endParaRPr lang="en-US"/>
          </a:p>
          <a:p>
            <a:pPr>
              <a:buClr>
                <a:srgbClr val="262626"/>
              </a:buClr>
              <a:buFont typeface="Wingdings" pitchFamily="18" charset="0"/>
              <a:buChar char="ü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Fulfilled project objectives</a:t>
            </a:r>
            <a:endParaRPr lang="en-US"/>
          </a:p>
          <a:p>
            <a:pPr>
              <a:buClr>
                <a:srgbClr val="262626"/>
              </a:buClr>
              <a:buFont typeface="Wingdings" pitchFamily="18" charset="0"/>
              <a:buChar char="ü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Compared </a:t>
            </a:r>
            <a:r>
              <a:rPr lang="en-US" sz="2400" b="1">
                <a:solidFill>
                  <a:srgbClr val="262626"/>
                </a:solidFill>
                <a:ea typeface="+mn-lt"/>
                <a:cs typeface="+mn-lt"/>
              </a:rPr>
              <a:t>imprisonment rates</a:t>
            </a: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and </a:t>
            </a:r>
            <a:r>
              <a:rPr lang="en-US" sz="2400" b="1">
                <a:solidFill>
                  <a:srgbClr val="262626"/>
                </a:solidFill>
                <a:ea typeface="+mn-lt"/>
                <a:cs typeface="+mn-lt"/>
              </a:rPr>
              <a:t>prisoner death rates</a:t>
            </a: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across states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262626"/>
              </a:buClr>
              <a:buFont typeface="Wingdings" pitchFamily="18" charset="0"/>
              <a:buChar char="ü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Built an </a:t>
            </a:r>
            <a:r>
              <a:rPr lang="en-US" sz="2400" b="1">
                <a:solidFill>
                  <a:srgbClr val="262626"/>
                </a:solidFill>
                <a:ea typeface="+mn-lt"/>
                <a:cs typeface="+mn-lt"/>
              </a:rPr>
              <a:t>interactive map</a:t>
            </a: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with statistical data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262626"/>
              </a:buClr>
              <a:buFont typeface="Wingdings" pitchFamily="18" charset="0"/>
              <a:buChar char="ü"/>
            </a:pPr>
            <a:r>
              <a:rPr lang="en-US" sz="2400">
                <a:solidFill>
                  <a:srgbClr val="262626"/>
                </a:solidFill>
                <a:ea typeface="+mn-lt"/>
                <a:cs typeface="+mn-lt"/>
              </a:rPr>
              <a:t> Clarified next steps</a:t>
            </a:r>
            <a:endParaRPr lang="en-US"/>
          </a:p>
          <a:p>
            <a:pPr>
              <a:buClr>
                <a:srgbClr val="262626"/>
              </a:buClr>
              <a:buFont typeface="Wingdings" pitchFamily="18" charset="0"/>
              <a:buChar char="ü"/>
            </a:pPr>
            <a:endParaRPr lang="en-US" sz="240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726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124CD-B0B9-016C-7A99-68584C7A3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49" y="219879"/>
            <a:ext cx="11537902" cy="1371600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ea typeface="+mj-lt"/>
                <a:cs typeface="+mj-lt"/>
              </a:rPr>
              <a:t>Independent Oversight Agencies for Correctional Facilities by Jurisdiction</a:t>
            </a:r>
            <a:endParaRPr lang="en-US" sz="3600" b="1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001C47-0294-D07A-80CE-B53FE48DA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19" y="1494777"/>
            <a:ext cx="11735913" cy="510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09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FC391-3DC0-1B4D-2F28-2E7AE9F6D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94" y="103076"/>
            <a:ext cx="11738136" cy="1371600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ea typeface="+mj-lt"/>
                <a:cs typeface="+mj-lt"/>
              </a:rPr>
              <a:t>Death in Custody Reporting Laws and Compliance by Jurisdiction</a:t>
            </a:r>
            <a:endParaRPr lang="en-US" sz="3600" b="1"/>
          </a:p>
        </p:txBody>
      </p:sp>
      <p:pic>
        <p:nvPicPr>
          <p:cNvPr id="4" name="Picture 3" descr="A screenshot of a table&#10;&#10;AI-generated content may be incorrect.">
            <a:extLst>
              <a:ext uri="{FF2B5EF4-FFF2-40B4-BE49-F238E27FC236}">
                <a16:creationId xmlns:a16="http://schemas.microsoft.com/office/drawing/2014/main" id="{CD628814-F40F-B379-75C5-93AED3643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81" y="1378889"/>
            <a:ext cx="11747038" cy="524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403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6F76-ADEB-00A1-7AC6-7F2642FD9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3D7F4-D384-4606-DBF7-641038D83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rgbClr val="262626"/>
              </a:buClr>
            </a:pPr>
            <a:r>
              <a:rPr lang="en-US" sz="2000" b="1">
                <a:ea typeface="+mn-lt"/>
                <a:cs typeface="+mn-lt"/>
              </a:rPr>
              <a:t>State DOC Press Releases</a:t>
            </a:r>
          </a:p>
          <a:p>
            <a:pPr lvl="1">
              <a:buClr>
                <a:srgbClr val="262626"/>
              </a:buClr>
              <a:buFont typeface="Courier New" pitchFamily="18" charset="0"/>
              <a:buChar char="o"/>
            </a:pPr>
            <a:r>
              <a:rPr lang="en-US" sz="2000">
                <a:ea typeface="+mn-lt"/>
                <a:cs typeface="+mn-lt"/>
              </a:rPr>
              <a:t>Structured data entered from state Department of Corrections (DOC) press releases</a:t>
            </a:r>
            <a:endParaRPr lang="en-US" sz="2000"/>
          </a:p>
          <a:p>
            <a:pPr lvl="1">
              <a:buClr>
                <a:srgbClr val="262626"/>
              </a:buClr>
              <a:buFont typeface="Courier New" pitchFamily="18" charset="0"/>
              <a:buChar char="o"/>
            </a:pPr>
            <a:r>
              <a:rPr lang="en-US" sz="2000">
                <a:ea typeface="+mn-lt"/>
                <a:cs typeface="+mn-lt"/>
              </a:rPr>
              <a:t>Captures names, demographics, and causes of death</a:t>
            </a:r>
            <a:endParaRPr lang="en-US" sz="2000"/>
          </a:p>
          <a:p>
            <a:pPr>
              <a:buClr>
                <a:srgbClr val="262626"/>
              </a:buClr>
            </a:pPr>
            <a:r>
              <a:rPr lang="en-US" sz="2000" b="1">
                <a:ea typeface="+mn-lt"/>
                <a:cs typeface="+mn-lt"/>
              </a:rPr>
              <a:t>Bureau of Justice Statistics (BJS)</a:t>
            </a:r>
            <a:endParaRPr lang="en-US" sz="2000"/>
          </a:p>
          <a:p>
            <a:pPr lvl="1">
              <a:buClr>
                <a:srgbClr val="262626"/>
              </a:buClr>
              <a:buFont typeface="Courier New" pitchFamily="18" charset="0"/>
              <a:buChar char="o"/>
            </a:pPr>
            <a:r>
              <a:rPr lang="en-US" sz="2000">
                <a:ea typeface="+mn-lt"/>
                <a:cs typeface="+mn-lt"/>
              </a:rPr>
              <a:t>Individual-level death records in state prisons</a:t>
            </a:r>
            <a:endParaRPr lang="en-US" sz="2000"/>
          </a:p>
          <a:p>
            <a:pPr lvl="1">
              <a:buClr>
                <a:srgbClr val="262626"/>
              </a:buClr>
              <a:buFont typeface="Courier New" pitchFamily="18" charset="0"/>
              <a:buChar char="o"/>
            </a:pPr>
            <a:r>
              <a:rPr lang="en-US" sz="2000">
                <a:ea typeface="+mn-lt"/>
                <a:cs typeface="+mn-lt"/>
              </a:rPr>
              <a:t>Covers years 2015–2019</a:t>
            </a:r>
            <a:endParaRPr lang="en-US" sz="2000"/>
          </a:p>
          <a:p>
            <a:pPr lvl="1">
              <a:buClr>
                <a:srgbClr val="262626"/>
              </a:buClr>
              <a:buFont typeface="Courier New" pitchFamily="18" charset="0"/>
              <a:buChar char="o"/>
            </a:pPr>
            <a:r>
              <a:rPr lang="en-US" sz="2000">
                <a:ea typeface="+mn-lt"/>
                <a:cs typeface="+mn-lt"/>
              </a:rPr>
              <a:t>Includes demographic info and standardized cause-of-death codes</a:t>
            </a:r>
            <a:endParaRPr lang="en-US" sz="2000"/>
          </a:p>
          <a:p>
            <a:pPr>
              <a:buClr>
                <a:srgbClr val="262626"/>
              </a:buClr>
            </a:pPr>
            <a:r>
              <a:rPr lang="en-US" sz="2000" b="1">
                <a:ea typeface="+mn-lt"/>
                <a:cs typeface="+mn-lt"/>
              </a:rPr>
              <a:t>Bureau of Justice Assistance (BJA)</a:t>
            </a:r>
            <a:endParaRPr lang="en-US" sz="2000"/>
          </a:p>
          <a:p>
            <a:pPr lvl="1">
              <a:buClr>
                <a:srgbClr val="262626"/>
              </a:buClr>
              <a:buFont typeface="Courier New" pitchFamily="18" charset="0"/>
              <a:buChar char="o"/>
            </a:pPr>
            <a:r>
              <a:rPr lang="en-US" sz="2000">
                <a:ea typeface="+mn-lt"/>
                <a:cs typeface="+mn-lt"/>
              </a:rPr>
              <a:t>Ongoing data collection through the Deaths in Custody Reporting Program (DCRA)</a:t>
            </a:r>
            <a:endParaRPr lang="en-US" sz="2000"/>
          </a:p>
          <a:p>
            <a:pPr lvl="1">
              <a:buClr>
                <a:srgbClr val="262626"/>
              </a:buClr>
              <a:buFont typeface="Courier New" pitchFamily="18" charset="0"/>
              <a:buChar char="o"/>
            </a:pPr>
            <a:r>
              <a:rPr lang="en-US" sz="2000">
                <a:ea typeface="+mn-lt"/>
                <a:cs typeface="+mn-lt"/>
              </a:rPr>
              <a:t>May vary in structure and detail across states</a:t>
            </a:r>
            <a:endParaRPr lang="en-US" sz="2000"/>
          </a:p>
          <a:p>
            <a:pPr>
              <a:buClr>
                <a:srgbClr val="262626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808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CE4DC00-5E49-42F4-B341-44AAE3275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7744" y="237744"/>
            <a:ext cx="11724043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D30E57-DA79-A7E6-7FC3-C39EF9B9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642593"/>
            <a:ext cx="5577078" cy="1744183"/>
          </a:xfrm>
        </p:spPr>
        <p:txBody>
          <a:bodyPr>
            <a:normAutofit/>
          </a:bodyPr>
          <a:lstStyle/>
          <a:p>
            <a:r>
              <a:rPr lang="en-US" sz="3600" b="1">
                <a:ea typeface="+mj-lt"/>
                <a:cs typeface="+mj-lt"/>
              </a:rPr>
              <a:t>EDA on Merged BJA + BJS Dataset</a:t>
            </a:r>
            <a:endParaRPr lang="en-US" sz="3600"/>
          </a:p>
        </p:txBody>
      </p:sp>
      <p:pic>
        <p:nvPicPr>
          <p:cNvPr id="5" name="Picture 4" descr="A graph with green squares and black text&#10;&#10;AI-generated content may be incorrect.">
            <a:extLst>
              <a:ext uri="{FF2B5EF4-FFF2-40B4-BE49-F238E27FC236}">
                <a16:creationId xmlns:a16="http://schemas.microsoft.com/office/drawing/2014/main" id="{0E6C19F4-51D1-31E0-84FA-18C9F54847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10960"/>
          <a:stretch>
            <a:fillRect/>
          </a:stretch>
        </p:blipFill>
        <p:spPr>
          <a:xfrm>
            <a:off x="235404" y="3483103"/>
            <a:ext cx="5630383" cy="3136772"/>
          </a:xfrm>
          <a:prstGeom prst="rect">
            <a:avLst/>
          </a:prstGeom>
        </p:spPr>
      </p:pic>
      <p:pic>
        <p:nvPicPr>
          <p:cNvPr id="4" name="Content Placeholder 3" descr="A graph with a bar graph&#10;&#10;AI-generated content may be incorrect.">
            <a:extLst>
              <a:ext uri="{FF2B5EF4-FFF2-40B4-BE49-F238E27FC236}">
                <a16:creationId xmlns:a16="http://schemas.microsoft.com/office/drawing/2014/main" id="{01F33BFE-BE67-1FA7-143A-6AC506BF4C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" b="7354"/>
          <a:stretch>
            <a:fillRect/>
          </a:stretch>
        </p:blipFill>
        <p:spPr>
          <a:xfrm>
            <a:off x="5864679" y="3514724"/>
            <a:ext cx="6097108" cy="3105531"/>
          </a:xfrm>
          <a:prstGeom prst="rect">
            <a:avLst/>
          </a:prstGeom>
        </p:spPr>
      </p:pic>
      <p:pic>
        <p:nvPicPr>
          <p:cNvPr id="7" name="Picture 6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58BA3B2E-F613-10E3-F77A-6DE9B8C48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119" y="239713"/>
            <a:ext cx="548640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976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22328-C123-307E-C9F3-B8A625C7A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223A-1A1B-FA15-8501-D3D1C679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Purposes of the Project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000060-D06D-4A48-BD8E-978966CC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654" y="727628"/>
            <a:ext cx="5367164" cy="5415552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4E5113-B3D0-40F8-9F39-B2C2BF92A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3978" y="886862"/>
            <a:ext cx="5054517" cy="5097085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CB62F600-BC4F-97AB-720C-044A264E5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017" y="1730328"/>
            <a:ext cx="4414438" cy="341015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4F2AC-CD7D-1EEE-9C2F-73FD9F103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538919"/>
            <a:ext cx="4957554" cy="349612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latin typeface="Century Gothic"/>
                <a:ea typeface="+mn-lt"/>
                <a:cs typeface="Segoe UI Light"/>
              </a:rPr>
              <a:t>✔ </a:t>
            </a:r>
            <a:r>
              <a:rPr lang="en-US">
                <a:ea typeface="+mn-lt"/>
                <a:cs typeface="+mn-lt"/>
              </a:rPr>
              <a:t>Matched federal death lists with state press releases to identify discrepancies</a:t>
            </a:r>
            <a:endParaRPr lang="en-US"/>
          </a:p>
          <a:p>
            <a:pPr>
              <a:buNone/>
            </a:pPr>
            <a:endParaRPr lang="en-US">
              <a:latin typeface="Century Gothic"/>
              <a:ea typeface="+mn-lt"/>
              <a:cs typeface="Segoe UI Light"/>
            </a:endParaRPr>
          </a:p>
          <a:p>
            <a:pPr>
              <a:buNone/>
            </a:pPr>
            <a:r>
              <a:rPr lang="en-US">
                <a:latin typeface="Century Gothic"/>
                <a:ea typeface="+mn-lt"/>
                <a:cs typeface="Segoe UI Light"/>
              </a:rPr>
              <a:t>✔ Added death notices from state releases to Third City Project via Qualtrics</a:t>
            </a:r>
            <a:endParaRPr lang="en-US">
              <a:latin typeface="Century Gothic"/>
              <a:ea typeface="+mn-lt"/>
              <a:cs typeface="+mn-lt"/>
            </a:endParaRPr>
          </a:p>
          <a:p>
            <a:pPr>
              <a:buNone/>
            </a:pPr>
            <a:endParaRPr lang="en-US">
              <a:latin typeface="Century Gothic"/>
              <a:ea typeface="+mn-lt"/>
              <a:cs typeface="Segoe UI Light"/>
            </a:endParaRPr>
          </a:p>
          <a:p>
            <a:pPr>
              <a:buNone/>
            </a:pPr>
            <a:r>
              <a:rPr lang="en-US">
                <a:latin typeface="Century Gothic"/>
                <a:ea typeface="+mn-lt"/>
                <a:cs typeface="Segoe UI Light"/>
              </a:rPr>
              <a:t>✔ </a:t>
            </a:r>
            <a:r>
              <a:rPr lang="en-US">
                <a:ea typeface="+mn-lt"/>
                <a:cs typeface="+mn-lt"/>
              </a:rPr>
              <a:t>Merged datasets, performed EDA, and built a public interactive map</a:t>
            </a:r>
          </a:p>
          <a:p>
            <a:pPr>
              <a:buClr>
                <a:srgbClr val="262626"/>
              </a:buClr>
              <a:buFont typeface="Garamond"/>
              <a:buChar char="◦"/>
            </a:pPr>
            <a:endParaRPr lang="en-US">
              <a:ea typeface="+mn-lt"/>
              <a:cs typeface="+mn-lt"/>
            </a:endParaRPr>
          </a:p>
          <a:p>
            <a:pPr>
              <a:buClr>
                <a:srgbClr val="262626"/>
              </a:buClr>
              <a:buFont typeface="Garamond"/>
              <a:buChar char="◦"/>
            </a:pPr>
            <a:endParaRPr lang="en-US">
              <a:ea typeface="+mn-lt"/>
              <a:cs typeface="+mn-lt"/>
            </a:endParaRPr>
          </a:p>
          <a:p>
            <a:pPr>
              <a:buClr>
                <a:srgbClr val="262626"/>
              </a:buClr>
              <a:buFont typeface="Garamond"/>
              <a:buChar char="◦"/>
            </a:pP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>
              <a:latin typeface="Century Gothic" panose="020B0502020202020204"/>
              <a:cs typeface="Arial"/>
            </a:endParaRPr>
          </a:p>
          <a:p>
            <a:pPr>
              <a:buClr>
                <a:prstClr val="black">
                  <a:lumMod val="85000"/>
                  <a:lumOff val="15000"/>
                </a:prstClr>
              </a:buClr>
              <a:buNone/>
            </a:pPr>
            <a:endParaRPr lang="en-US">
              <a:latin typeface="Century Gothic" panose="020B0502020202020204"/>
              <a:cs typeface="Arial"/>
            </a:endParaRPr>
          </a:p>
          <a:p>
            <a:pPr>
              <a:buClr>
                <a:prstClr val="black">
                  <a:lumMod val="85000"/>
                  <a:lumOff val="15000"/>
                </a:prstClr>
              </a:buClr>
              <a:buNone/>
            </a:pPr>
            <a:endParaRPr lang="en-US">
              <a:latin typeface="Century Gothic" panose="020B0502020202020204"/>
              <a:cs typeface="Arial"/>
            </a:endParaRPr>
          </a:p>
          <a:p>
            <a:pPr>
              <a:buClr>
                <a:prstClr val="black">
                  <a:lumMod val="85000"/>
                  <a:lumOff val="15000"/>
                </a:prstClr>
              </a:buClr>
              <a:buNone/>
            </a:pPr>
            <a:endParaRPr lang="en-US">
              <a:latin typeface="Century Gothic" panose="020B0502020202020204"/>
              <a:cs typeface="Arial"/>
            </a:endParaRPr>
          </a:p>
          <a:p>
            <a:pPr>
              <a:buClr>
                <a:srgbClr val="262626"/>
              </a:buClr>
              <a:buFont typeface="Wingdings"/>
              <a:buChar char="Ø"/>
            </a:pPr>
            <a:endParaRPr lang="en-US">
              <a:latin typeface="Century Gothic"/>
            </a:endParaRPr>
          </a:p>
          <a:p>
            <a:pPr>
              <a:buClr>
                <a:srgbClr val="262626"/>
              </a:buClr>
              <a:buFont typeface="Wingdings"/>
              <a:buChar char="Ø"/>
            </a:pPr>
            <a:endParaRPr lang="en-US">
              <a:latin typeface="Century Gothic"/>
            </a:endParaRPr>
          </a:p>
          <a:p>
            <a:pPr>
              <a:buClr>
                <a:srgbClr val="262626"/>
              </a:buClr>
              <a:buFont typeface="Wingdings"/>
              <a:buChar char="Ø"/>
            </a:pPr>
            <a:endParaRPr lang="en-US">
              <a:latin typeface="Century Gothic"/>
            </a:endParaRPr>
          </a:p>
          <a:p>
            <a:pPr>
              <a:buClr>
                <a:srgbClr val="262626"/>
              </a:buClr>
              <a:buFont typeface="Wingdings"/>
              <a:buChar char="Ø"/>
            </a:pPr>
            <a:endParaRPr lang="en-US">
              <a:latin typeface="Century Gothic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US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99802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36CAAC-1ED2-744D-284F-24BBAE4CE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6B92-EA5C-FDEE-6CBB-36D3EDB94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4082" y="642594"/>
            <a:ext cx="4472921" cy="1371600"/>
          </a:xfrm>
        </p:spPr>
        <p:txBody>
          <a:bodyPr>
            <a:noAutofit/>
          </a:bodyPr>
          <a:lstStyle/>
          <a:p>
            <a:r>
              <a:rPr lang="en-US" b="1">
                <a:ea typeface="+mj-lt"/>
                <a:cs typeface="+mj-lt"/>
              </a:rPr>
              <a:t>Challenges &amp; Barriers</a:t>
            </a:r>
            <a:endParaRPr lang="en-US" b="1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936D704-5904-42AD-9DA1-E236DCE15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794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 up of icons&#10;&#10;AI-generated content may be incorrect.">
            <a:extLst>
              <a:ext uri="{FF2B5EF4-FFF2-40B4-BE49-F238E27FC236}">
                <a16:creationId xmlns:a16="http://schemas.microsoft.com/office/drawing/2014/main" id="{09A872D0-45D7-3AF8-DA58-F07AA97E3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54" y="2348553"/>
            <a:ext cx="5367165" cy="21737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F30F2-6EEB-99A7-8A80-31C3568A8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6097" y="2103120"/>
            <a:ext cx="4962381" cy="393192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buFont typeface="Wingdings" panose="020B0604020202020204" pitchFamily="34" charset="0"/>
              <a:buChar char="v"/>
            </a:pPr>
            <a:endParaRPr lang="en-US" sz="1600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262626"/>
              </a:buClr>
              <a:buFont typeface="Wingdings" panose="020B0604020202020204" pitchFamily="34" charset="0"/>
              <a:buChar char="v"/>
            </a:pPr>
            <a:r>
              <a:rPr lang="en-US">
                <a:ea typeface="+mn-lt"/>
                <a:cs typeface="+mn-lt"/>
              </a:rPr>
              <a:t> Some states provide very few death records, or none at all, for entire years</a:t>
            </a: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v"/>
            </a:pPr>
            <a:endParaRPr lang="en-US">
              <a:ea typeface="+mn-lt"/>
              <a:cs typeface="+mn-lt"/>
            </a:endParaRP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v"/>
            </a:pPr>
            <a:r>
              <a:rPr lang="en-US">
                <a:ea typeface="+mn-lt"/>
                <a:cs typeface="+mn-lt"/>
              </a:rPr>
              <a:t> Different terms are used for the same causes of death, and datasets are often incomplete</a:t>
            </a:r>
            <a:endParaRPr lang="en-US"/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v"/>
            </a:pPr>
            <a:endParaRPr lang="en-US">
              <a:ea typeface="+mn-lt"/>
              <a:cs typeface="+mn-lt"/>
            </a:endParaRP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v"/>
            </a:pPr>
            <a:r>
              <a:rPr lang="en-US">
                <a:ea typeface="+mn-lt"/>
                <a:cs typeface="+mn-lt"/>
              </a:rPr>
              <a:t> Late submission of records delays the confirmation of causes of death</a:t>
            </a:r>
            <a:endParaRPr lang="en-US"/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v"/>
            </a:pPr>
            <a:endParaRPr lang="en-US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262626"/>
              </a:buClr>
              <a:buFont typeface="Wingdings" panose="020B0604020202020204" pitchFamily="34" charset="0"/>
              <a:buChar char="v"/>
            </a:pPr>
            <a:r>
              <a:rPr lang="en-US">
                <a:ea typeface="+mn-lt"/>
                <a:cs typeface="+mn-lt"/>
              </a:rPr>
              <a:t> Insufficient staffing, funding, and time lead to more errors and reporting gaps</a:t>
            </a: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v"/>
            </a:pPr>
            <a:endParaRPr lang="en-US" sz="1600">
              <a:latin typeface="Aptos Display"/>
            </a:endParaRP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v"/>
            </a:pPr>
            <a:endParaRPr lang="en-US" sz="160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123056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A856DE3-B9AB-43F7-A80F-CB9F149A9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D28F3-9745-AEB1-5768-E10F8CDCE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559768"/>
            <a:ext cx="3238829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2800" b="1" cap="all" spc="-100">
                <a:solidFill>
                  <a:srgbClr val="FFFFFF"/>
                </a:solidFill>
              </a:rPr>
              <a:t>State Prison Population and Imprisonment Rate, 2019</a:t>
            </a: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B4B154C-0A60-41BF-B149-21BD6D9B9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C1BCB1-67D2-4359-8F92-3A69D16DD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00E080-59F0-4F83-B2C9-C7330EFDF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506867-1785-46B5-8ECF-33F482D0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D5091A8B-D641-6534-7DE2-E70458478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" y="362778"/>
            <a:ext cx="8125652" cy="5765532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8A8A2B6-6C82-4F71-BD0A-2E57CD231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729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A856DE3-B9AB-43F7-A80F-CB9F149A9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314133-0904-BCA3-BC2D-465E27A9A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559768"/>
            <a:ext cx="3238829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2800" b="1" cap="all" spc="-100">
                <a:solidFill>
                  <a:srgbClr val="FFFFFF"/>
                </a:solidFill>
              </a:rPr>
              <a:t>State Prisoner Deaths in 2019: Total Counts and Death Rates</a:t>
            </a: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B4B154C-0A60-41BF-B149-21BD6D9B9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C1BCB1-67D2-4359-8F92-3A69D16DD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00E080-59F0-4F83-B2C9-C7330EFDF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506867-1785-46B5-8ECF-33F482D0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8A8A2B6-6C82-4F71-BD0A-2E57CD231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graph of death rate by state&#10;&#10;AI-generated content may be incorrect.">
            <a:extLst>
              <a:ext uri="{FF2B5EF4-FFF2-40B4-BE49-F238E27FC236}">
                <a16:creationId xmlns:a16="http://schemas.microsoft.com/office/drawing/2014/main" id="{321804B1-6827-A230-90A9-B80CC3A90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77" y="365125"/>
            <a:ext cx="8054794" cy="574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279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25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A856DE3-B9AB-43F7-A80F-CB9F149A9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74400-B5CA-EE46-EC14-D773C46DD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559768"/>
            <a:ext cx="3238829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2800" b="1" cap="all" spc="-100">
                <a:solidFill>
                  <a:srgbClr val="FFFFFF"/>
                </a:solidFill>
              </a:rPr>
              <a:t>Interactive Map of U.S. Prisoner Deaths by State</a:t>
            </a:r>
          </a:p>
        </p:txBody>
      </p:sp>
      <p:sp useBgFill="1">
        <p:nvSpPr>
          <p:cNvPr id="141" name="Rectangle 140">
            <a:extLst>
              <a:ext uri="{FF2B5EF4-FFF2-40B4-BE49-F238E27FC236}">
                <a16:creationId xmlns:a16="http://schemas.microsoft.com/office/drawing/2014/main" id="{8B4B154C-0A60-41BF-B149-21BD6D9B9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DC1BCB1-67D2-4359-8F92-3A69D16DD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8800E080-59F0-4F83-B2C9-C7330EFDF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5F506867-1785-46B5-8ECF-33F482D0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map of the united states">
            <a:extLst>
              <a:ext uri="{FF2B5EF4-FFF2-40B4-BE49-F238E27FC236}">
                <a16:creationId xmlns:a16="http://schemas.microsoft.com/office/drawing/2014/main" id="{2E00DE92-BD24-CF54-0A23-D7ACFB39B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" y="1139275"/>
            <a:ext cx="8160741" cy="4312898"/>
          </a:xfrm>
          <a:prstGeom prst="rect">
            <a:avLst/>
          </a:prstGeom>
        </p:spPr>
      </p:pic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8A8A2B6-6C82-4F71-BD0A-2E57CD231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359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D2A14-0DF1-DEBB-EB1A-C3EFB991C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Next Steps</a:t>
            </a:r>
            <a:endParaRPr lang="en-US" b="1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FB902865-D849-4766-A987-3CA0E18467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3497164"/>
              </p:ext>
            </p:extLst>
          </p:nvPr>
        </p:nvGraphicFramePr>
        <p:xfrm>
          <a:off x="816509" y="2103120"/>
          <a:ext cx="6997174" cy="4126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A group of icons in circles&#10;&#10;AI-generated content may be incorrect.">
            <a:extLst>
              <a:ext uri="{FF2B5EF4-FFF2-40B4-BE49-F238E27FC236}">
                <a16:creationId xmlns:a16="http://schemas.microsoft.com/office/drawing/2014/main" id="{CE241D88-75F2-23C1-936F-9DD6F63F18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6250" y="2451300"/>
            <a:ext cx="3425675" cy="342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313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04A78-7243-831F-1AB8-8E8619B56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9079-56A6-05D4-AA49-B8B3FF6A4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— questions?</a:t>
            </a:r>
          </a:p>
        </p:txBody>
      </p:sp>
      <p:pic>
        <p:nvPicPr>
          <p:cNvPr id="21" name="Graphic 20" descr="Help">
            <a:extLst>
              <a:ext uri="{FF2B5EF4-FFF2-40B4-BE49-F238E27FC236}">
                <a16:creationId xmlns:a16="http://schemas.microsoft.com/office/drawing/2014/main" id="{8DC6BF4D-3569-5E15-A5A0-650ED751E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662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24</Slides>
  <Notes>17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Savon</vt:lpstr>
      <vt:lpstr> Linking and Analyzing Data on Deaths in US Prison</vt:lpstr>
      <vt:lpstr>PowerPoint Presentation</vt:lpstr>
      <vt:lpstr>How We Got Here</vt:lpstr>
      <vt:lpstr>The Prison System Itself</vt:lpstr>
      <vt:lpstr>PowerPoint Presentation</vt:lpstr>
      <vt:lpstr>Third City Project</vt:lpstr>
      <vt:lpstr>Examples of Research questions:</vt:lpstr>
      <vt:lpstr>Analysis Plan</vt:lpstr>
      <vt:lpstr>What’s “Cool” about the Project?</vt:lpstr>
      <vt:lpstr>State Hotspots &amp; Year-to-Year Swings (2020-23) </vt:lpstr>
      <vt:lpstr>Race &amp; Sex Disparities in Prison Deaths (2020-23)</vt:lpstr>
      <vt:lpstr>Prison Mortality Snapshot (2020-23)</vt:lpstr>
      <vt:lpstr>Updates after Talk 1:</vt:lpstr>
      <vt:lpstr>Independent Oversight Agencies for Correctional Facilities by Jurisdiction</vt:lpstr>
      <vt:lpstr>Death in Custody Reporting Laws and Compliance by Jurisdiction</vt:lpstr>
      <vt:lpstr>Data Sources</vt:lpstr>
      <vt:lpstr>EDA on Merged BJA + BJS Dataset</vt:lpstr>
      <vt:lpstr>Purposes of the Project</vt:lpstr>
      <vt:lpstr>Challenges &amp; Barriers</vt:lpstr>
      <vt:lpstr>State Prison Population and Imprisonment Rate, 2019</vt:lpstr>
      <vt:lpstr>State Prisoner Deaths in 2019: Total Counts and Death Rates</vt:lpstr>
      <vt:lpstr>Interactive Map of U.S. Prisoner Deaths by State</vt:lpstr>
      <vt:lpstr>Next Steps</vt:lpstr>
      <vt:lpstr>Thank you —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21</cp:revision>
  <dcterms:created xsi:type="dcterms:W3CDTF">2025-05-30T16:10:55Z</dcterms:created>
  <dcterms:modified xsi:type="dcterms:W3CDTF">2025-07-07T01:07:01Z</dcterms:modified>
</cp:coreProperties>
</file>