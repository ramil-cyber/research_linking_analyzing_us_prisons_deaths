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Lst>
  <p:sldSz cx="19202400" cy="16459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8C8513-9C15-F07F-F72F-336ABBAAD924}" name="Ramil Mammadov" initials="RM" userId="S::rm564@duke.edu::c8b69adb-431d-4c3a-bf07-71fa0fb281d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C2887"/>
    <a:srgbClr val="113B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8898" autoAdjust="0"/>
    <p:restoredTop sz="94660"/>
  </p:normalViewPr>
  <p:slideViewPr>
    <p:cSldViewPr snapToGrid="0">
      <p:cViewPr>
        <p:scale>
          <a:sx n="70" d="100"/>
          <a:sy n="70" d="100"/>
        </p:scale>
        <p:origin x="1824" y="-1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40180" y="2693671"/>
            <a:ext cx="16322040" cy="5730240"/>
          </a:xfrm>
        </p:spPr>
        <p:txBody>
          <a:bodyPr anchor="b"/>
          <a:lstStyle>
            <a:lvl1pPr algn="ctr">
              <a:defRPr sz="12600"/>
            </a:lvl1pPr>
          </a:lstStyle>
          <a:p>
            <a:r>
              <a:rPr lang="en-US"/>
              <a:t>Click to edit Master title style</a:t>
            </a:r>
            <a:endParaRPr lang="en-US" dirty="0"/>
          </a:p>
        </p:txBody>
      </p:sp>
      <p:sp>
        <p:nvSpPr>
          <p:cNvPr id="3" name="Subtitle 2"/>
          <p:cNvSpPr>
            <a:spLocks noGrp="1"/>
          </p:cNvSpPr>
          <p:nvPr>
            <p:ph type="subTitle" idx="1"/>
          </p:nvPr>
        </p:nvSpPr>
        <p:spPr>
          <a:xfrm>
            <a:off x="2400300" y="8644891"/>
            <a:ext cx="14401800" cy="3973829"/>
          </a:xfrm>
        </p:spPr>
        <p:txBody>
          <a:bodyPr/>
          <a:lstStyle>
            <a:lvl1pPr marL="0" indent="0" algn="ctr">
              <a:buNone/>
              <a:defRPr sz="5040"/>
            </a:lvl1pPr>
            <a:lvl2pPr marL="960120" indent="0" algn="ctr">
              <a:buNone/>
              <a:defRPr sz="4200"/>
            </a:lvl2pPr>
            <a:lvl3pPr marL="1920240" indent="0" algn="ctr">
              <a:buNone/>
              <a:defRPr sz="3780"/>
            </a:lvl3pPr>
            <a:lvl4pPr marL="2880360" indent="0" algn="ctr">
              <a:buNone/>
              <a:defRPr sz="3360"/>
            </a:lvl4pPr>
            <a:lvl5pPr marL="3840480" indent="0" algn="ctr">
              <a:buNone/>
              <a:defRPr sz="3360"/>
            </a:lvl5pPr>
            <a:lvl6pPr marL="4800600" indent="0" algn="ctr">
              <a:buNone/>
              <a:defRPr sz="3360"/>
            </a:lvl6pPr>
            <a:lvl7pPr marL="5760720" indent="0" algn="ctr">
              <a:buNone/>
              <a:defRPr sz="3360"/>
            </a:lvl7pPr>
            <a:lvl8pPr marL="6720840" indent="0" algn="ctr">
              <a:buNone/>
              <a:defRPr sz="3360"/>
            </a:lvl8pPr>
            <a:lvl9pPr marL="7680960" indent="0" algn="ctr">
              <a:buNone/>
              <a:defRPr sz="3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779B83-71F0-4C5C-A705-02D0D2504C07}" type="datetimeFigureOut">
              <a:rPr lang="en-US" smtClean="0"/>
              <a:t>7/21/25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3338909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779B83-71F0-4C5C-A705-02D0D2504C07}" type="datetimeFigureOut">
              <a:rPr lang="en-US" smtClean="0"/>
              <a:t>7/21/25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326394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10165" y="4103375"/>
            <a:ext cx="16562070" cy="6846569"/>
          </a:xfrm>
        </p:spPr>
        <p:txBody>
          <a:bodyPr anchor="b"/>
          <a:lstStyle>
            <a:lvl1pPr>
              <a:defRPr sz="12600"/>
            </a:lvl1pPr>
          </a:lstStyle>
          <a:p>
            <a:r>
              <a:rPr lang="en-US"/>
              <a:t>Click to edit Master title style</a:t>
            </a:r>
            <a:endParaRPr lang="en-US" dirty="0"/>
          </a:p>
        </p:txBody>
      </p:sp>
      <p:sp>
        <p:nvSpPr>
          <p:cNvPr id="3" name="Text Placeholder 2"/>
          <p:cNvSpPr>
            <a:spLocks noGrp="1"/>
          </p:cNvSpPr>
          <p:nvPr>
            <p:ph type="body" idx="1"/>
          </p:nvPr>
        </p:nvSpPr>
        <p:spPr>
          <a:xfrm>
            <a:off x="1310165" y="11014715"/>
            <a:ext cx="16562070" cy="3600449"/>
          </a:xfrm>
        </p:spPr>
        <p:txBody>
          <a:bodyPr/>
          <a:lstStyle>
            <a:lvl1pPr marL="0" indent="0">
              <a:buNone/>
              <a:defRPr sz="5040">
                <a:solidFill>
                  <a:schemeClr val="tx1"/>
                </a:solidFill>
              </a:defRPr>
            </a:lvl1pPr>
            <a:lvl2pPr marL="960120" indent="0">
              <a:buNone/>
              <a:defRPr sz="4200">
                <a:solidFill>
                  <a:schemeClr val="tx1">
                    <a:tint val="75000"/>
                  </a:schemeClr>
                </a:solidFill>
              </a:defRPr>
            </a:lvl2pPr>
            <a:lvl3pPr marL="1920240" indent="0">
              <a:buNone/>
              <a:defRPr sz="3780">
                <a:solidFill>
                  <a:schemeClr val="tx1">
                    <a:tint val="75000"/>
                  </a:schemeClr>
                </a:solidFill>
              </a:defRPr>
            </a:lvl3pPr>
            <a:lvl4pPr marL="2880360" indent="0">
              <a:buNone/>
              <a:defRPr sz="3360">
                <a:solidFill>
                  <a:schemeClr val="tx1">
                    <a:tint val="75000"/>
                  </a:schemeClr>
                </a:solidFill>
              </a:defRPr>
            </a:lvl4pPr>
            <a:lvl5pPr marL="3840480" indent="0">
              <a:buNone/>
              <a:defRPr sz="3360">
                <a:solidFill>
                  <a:schemeClr val="tx1">
                    <a:tint val="75000"/>
                  </a:schemeClr>
                </a:solidFill>
              </a:defRPr>
            </a:lvl5pPr>
            <a:lvl6pPr marL="4800600" indent="0">
              <a:buNone/>
              <a:defRPr sz="3360">
                <a:solidFill>
                  <a:schemeClr val="tx1">
                    <a:tint val="75000"/>
                  </a:schemeClr>
                </a:solidFill>
              </a:defRPr>
            </a:lvl6pPr>
            <a:lvl7pPr marL="5760720" indent="0">
              <a:buNone/>
              <a:defRPr sz="3360">
                <a:solidFill>
                  <a:schemeClr val="tx1">
                    <a:tint val="75000"/>
                  </a:schemeClr>
                </a:solidFill>
              </a:defRPr>
            </a:lvl7pPr>
            <a:lvl8pPr marL="6720840" indent="0">
              <a:buNone/>
              <a:defRPr sz="3360">
                <a:solidFill>
                  <a:schemeClr val="tx1">
                    <a:tint val="75000"/>
                  </a:schemeClr>
                </a:solidFill>
              </a:defRPr>
            </a:lvl8pPr>
            <a:lvl9pPr marL="7680960" indent="0">
              <a:buNone/>
              <a:defRPr sz="33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779B83-71F0-4C5C-A705-02D0D2504C07}" type="datetimeFigureOut">
              <a:rPr lang="en-US" smtClean="0"/>
              <a:t>7/21/25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1471924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20165" y="4381500"/>
            <a:ext cx="8161020" cy="104432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721215" y="4381500"/>
            <a:ext cx="8161020" cy="104432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779B83-71F0-4C5C-A705-02D0D2504C07}" type="datetimeFigureOut">
              <a:rPr lang="en-US" smtClean="0"/>
              <a:t>7/21/25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2845343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22666" y="876304"/>
            <a:ext cx="16562070" cy="318135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22668" y="4034791"/>
            <a:ext cx="8123514" cy="1977389"/>
          </a:xfrm>
        </p:spPr>
        <p:txBody>
          <a:bodyPr anchor="b"/>
          <a:lstStyle>
            <a:lvl1pPr marL="0" indent="0">
              <a:buNone/>
              <a:defRPr sz="5040" b="1"/>
            </a:lvl1pPr>
            <a:lvl2pPr marL="960120" indent="0">
              <a:buNone/>
              <a:defRPr sz="4200" b="1"/>
            </a:lvl2pPr>
            <a:lvl3pPr marL="1920240" indent="0">
              <a:buNone/>
              <a:defRPr sz="3780" b="1"/>
            </a:lvl3pPr>
            <a:lvl4pPr marL="2880360" indent="0">
              <a:buNone/>
              <a:defRPr sz="3360" b="1"/>
            </a:lvl4pPr>
            <a:lvl5pPr marL="3840480" indent="0">
              <a:buNone/>
              <a:defRPr sz="3360" b="1"/>
            </a:lvl5pPr>
            <a:lvl6pPr marL="4800600" indent="0">
              <a:buNone/>
              <a:defRPr sz="3360" b="1"/>
            </a:lvl6pPr>
            <a:lvl7pPr marL="5760720" indent="0">
              <a:buNone/>
              <a:defRPr sz="3360" b="1"/>
            </a:lvl7pPr>
            <a:lvl8pPr marL="6720840" indent="0">
              <a:buNone/>
              <a:defRPr sz="3360" b="1"/>
            </a:lvl8pPr>
            <a:lvl9pPr marL="7680960" indent="0">
              <a:buNone/>
              <a:defRPr sz="3360" b="1"/>
            </a:lvl9pPr>
          </a:lstStyle>
          <a:p>
            <a:pPr lvl="0"/>
            <a:r>
              <a:rPr lang="en-US"/>
              <a:t>Edit Master text styles</a:t>
            </a:r>
          </a:p>
        </p:txBody>
      </p:sp>
      <p:sp>
        <p:nvSpPr>
          <p:cNvPr id="4" name="Content Placeholder 3"/>
          <p:cNvSpPr>
            <a:spLocks noGrp="1"/>
          </p:cNvSpPr>
          <p:nvPr>
            <p:ph sz="half" idx="2"/>
          </p:nvPr>
        </p:nvSpPr>
        <p:spPr>
          <a:xfrm>
            <a:off x="1322668" y="6012180"/>
            <a:ext cx="8123514" cy="88430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721216" y="4034791"/>
            <a:ext cx="8163521" cy="1977389"/>
          </a:xfrm>
        </p:spPr>
        <p:txBody>
          <a:bodyPr anchor="b"/>
          <a:lstStyle>
            <a:lvl1pPr marL="0" indent="0">
              <a:buNone/>
              <a:defRPr sz="5040" b="1"/>
            </a:lvl1pPr>
            <a:lvl2pPr marL="960120" indent="0">
              <a:buNone/>
              <a:defRPr sz="4200" b="1"/>
            </a:lvl2pPr>
            <a:lvl3pPr marL="1920240" indent="0">
              <a:buNone/>
              <a:defRPr sz="3780" b="1"/>
            </a:lvl3pPr>
            <a:lvl4pPr marL="2880360" indent="0">
              <a:buNone/>
              <a:defRPr sz="3360" b="1"/>
            </a:lvl4pPr>
            <a:lvl5pPr marL="3840480" indent="0">
              <a:buNone/>
              <a:defRPr sz="3360" b="1"/>
            </a:lvl5pPr>
            <a:lvl6pPr marL="4800600" indent="0">
              <a:buNone/>
              <a:defRPr sz="3360" b="1"/>
            </a:lvl6pPr>
            <a:lvl7pPr marL="5760720" indent="0">
              <a:buNone/>
              <a:defRPr sz="3360" b="1"/>
            </a:lvl7pPr>
            <a:lvl8pPr marL="6720840" indent="0">
              <a:buNone/>
              <a:defRPr sz="3360" b="1"/>
            </a:lvl8pPr>
            <a:lvl9pPr marL="7680960" indent="0">
              <a:buNone/>
              <a:defRPr sz="3360" b="1"/>
            </a:lvl9pPr>
          </a:lstStyle>
          <a:p>
            <a:pPr lvl="0"/>
            <a:r>
              <a:rPr lang="en-US"/>
              <a:t>Edit Master text styles</a:t>
            </a:r>
          </a:p>
        </p:txBody>
      </p:sp>
      <p:sp>
        <p:nvSpPr>
          <p:cNvPr id="6" name="Content Placeholder 5"/>
          <p:cNvSpPr>
            <a:spLocks noGrp="1"/>
          </p:cNvSpPr>
          <p:nvPr>
            <p:ph sz="quarter" idx="4"/>
          </p:nvPr>
        </p:nvSpPr>
        <p:spPr>
          <a:xfrm>
            <a:off x="9721216" y="6012180"/>
            <a:ext cx="8163521" cy="88430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779B83-71F0-4C5C-A705-02D0D2504C07}" type="datetimeFigureOut">
              <a:rPr lang="en-US" smtClean="0"/>
              <a:t>7/21/25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3264029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779B83-71F0-4C5C-A705-02D0D2504C07}" type="datetimeFigureOut">
              <a:rPr lang="en-US" smtClean="0"/>
              <a:t>7/21/25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3370807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779B83-71F0-4C5C-A705-02D0D2504C07}" type="datetimeFigureOut">
              <a:rPr lang="en-US" smtClean="0"/>
              <a:t>7/21/25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2046782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22666" y="1097280"/>
            <a:ext cx="6193274" cy="3840480"/>
          </a:xfrm>
        </p:spPr>
        <p:txBody>
          <a:bodyPr anchor="b"/>
          <a:lstStyle>
            <a:lvl1pPr>
              <a:defRPr sz="6720"/>
            </a:lvl1pPr>
          </a:lstStyle>
          <a:p>
            <a:r>
              <a:rPr lang="en-US"/>
              <a:t>Click to edit Master title style</a:t>
            </a:r>
            <a:endParaRPr lang="en-US" dirty="0"/>
          </a:p>
        </p:txBody>
      </p:sp>
      <p:sp>
        <p:nvSpPr>
          <p:cNvPr id="3" name="Content Placeholder 2"/>
          <p:cNvSpPr>
            <a:spLocks noGrp="1"/>
          </p:cNvSpPr>
          <p:nvPr>
            <p:ph idx="1"/>
          </p:nvPr>
        </p:nvSpPr>
        <p:spPr>
          <a:xfrm>
            <a:off x="8163521" y="2369824"/>
            <a:ext cx="9721215" cy="11696700"/>
          </a:xfrm>
        </p:spPr>
        <p:txBody>
          <a:bodyPr/>
          <a:lstStyle>
            <a:lvl1pPr>
              <a:defRPr sz="6720"/>
            </a:lvl1pPr>
            <a:lvl2pPr>
              <a:defRPr sz="5880"/>
            </a:lvl2pPr>
            <a:lvl3pPr>
              <a:defRPr sz="5040"/>
            </a:lvl3pPr>
            <a:lvl4pPr>
              <a:defRPr sz="4200"/>
            </a:lvl4pPr>
            <a:lvl5pPr>
              <a:defRPr sz="4200"/>
            </a:lvl5pPr>
            <a:lvl6pPr>
              <a:defRPr sz="4200"/>
            </a:lvl6pPr>
            <a:lvl7pPr>
              <a:defRPr sz="4200"/>
            </a:lvl7pPr>
            <a:lvl8pPr>
              <a:defRPr sz="4200"/>
            </a:lvl8pPr>
            <a:lvl9pPr>
              <a:defRPr sz="4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22666" y="4937760"/>
            <a:ext cx="6193274" cy="9147811"/>
          </a:xfrm>
        </p:spPr>
        <p:txBody>
          <a:bodyPr/>
          <a:lstStyle>
            <a:lvl1pPr marL="0" indent="0">
              <a:buNone/>
              <a:defRPr sz="3360"/>
            </a:lvl1pPr>
            <a:lvl2pPr marL="960120" indent="0">
              <a:buNone/>
              <a:defRPr sz="2940"/>
            </a:lvl2pPr>
            <a:lvl3pPr marL="1920240" indent="0">
              <a:buNone/>
              <a:defRPr sz="2520"/>
            </a:lvl3pPr>
            <a:lvl4pPr marL="2880360" indent="0">
              <a:buNone/>
              <a:defRPr sz="2100"/>
            </a:lvl4pPr>
            <a:lvl5pPr marL="3840480" indent="0">
              <a:buNone/>
              <a:defRPr sz="2100"/>
            </a:lvl5pPr>
            <a:lvl6pPr marL="4800600" indent="0">
              <a:buNone/>
              <a:defRPr sz="2100"/>
            </a:lvl6pPr>
            <a:lvl7pPr marL="5760720" indent="0">
              <a:buNone/>
              <a:defRPr sz="2100"/>
            </a:lvl7pPr>
            <a:lvl8pPr marL="6720840" indent="0">
              <a:buNone/>
              <a:defRPr sz="2100"/>
            </a:lvl8pPr>
            <a:lvl9pPr marL="7680960" indent="0">
              <a:buNone/>
              <a:defRPr sz="2100"/>
            </a:lvl9pPr>
          </a:lstStyle>
          <a:p>
            <a:pPr lvl="0"/>
            <a:r>
              <a:rPr lang="en-US"/>
              <a:t>Edit Master text styles</a:t>
            </a:r>
          </a:p>
        </p:txBody>
      </p:sp>
      <p:sp>
        <p:nvSpPr>
          <p:cNvPr id="5" name="Date Placeholder 4"/>
          <p:cNvSpPr>
            <a:spLocks noGrp="1"/>
          </p:cNvSpPr>
          <p:nvPr>
            <p:ph type="dt" sz="half" idx="10"/>
          </p:nvPr>
        </p:nvSpPr>
        <p:spPr/>
        <p:txBody>
          <a:bodyPr/>
          <a:lstStyle/>
          <a:p>
            <a:fld id="{74779B83-71F0-4C5C-A705-02D0D2504C07}" type="datetimeFigureOut">
              <a:rPr lang="en-US" smtClean="0"/>
              <a:t>7/21/25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505536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22666" y="1097280"/>
            <a:ext cx="6193274" cy="3840480"/>
          </a:xfrm>
        </p:spPr>
        <p:txBody>
          <a:bodyPr anchor="b"/>
          <a:lstStyle>
            <a:lvl1pPr>
              <a:defRPr sz="6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63521" y="2369824"/>
            <a:ext cx="9721215" cy="11696700"/>
          </a:xfrm>
        </p:spPr>
        <p:txBody>
          <a:bodyPr anchor="t"/>
          <a:lstStyle>
            <a:lvl1pPr marL="0" indent="0">
              <a:buNone/>
              <a:defRPr sz="6720"/>
            </a:lvl1pPr>
            <a:lvl2pPr marL="960120" indent="0">
              <a:buNone/>
              <a:defRPr sz="5880"/>
            </a:lvl2pPr>
            <a:lvl3pPr marL="1920240" indent="0">
              <a:buNone/>
              <a:defRPr sz="5040"/>
            </a:lvl3pPr>
            <a:lvl4pPr marL="2880360" indent="0">
              <a:buNone/>
              <a:defRPr sz="4200"/>
            </a:lvl4pPr>
            <a:lvl5pPr marL="3840480" indent="0">
              <a:buNone/>
              <a:defRPr sz="4200"/>
            </a:lvl5pPr>
            <a:lvl6pPr marL="4800600" indent="0">
              <a:buNone/>
              <a:defRPr sz="4200"/>
            </a:lvl6pPr>
            <a:lvl7pPr marL="5760720" indent="0">
              <a:buNone/>
              <a:defRPr sz="4200"/>
            </a:lvl7pPr>
            <a:lvl8pPr marL="6720840" indent="0">
              <a:buNone/>
              <a:defRPr sz="4200"/>
            </a:lvl8pPr>
            <a:lvl9pPr marL="7680960" indent="0">
              <a:buNone/>
              <a:defRPr sz="4200"/>
            </a:lvl9pPr>
          </a:lstStyle>
          <a:p>
            <a:r>
              <a:rPr lang="en-US"/>
              <a:t>Click icon to add picture</a:t>
            </a:r>
            <a:endParaRPr lang="en-US" dirty="0"/>
          </a:p>
        </p:txBody>
      </p:sp>
      <p:sp>
        <p:nvSpPr>
          <p:cNvPr id="4" name="Text Placeholder 3"/>
          <p:cNvSpPr>
            <a:spLocks noGrp="1"/>
          </p:cNvSpPr>
          <p:nvPr>
            <p:ph type="body" sz="half" idx="2"/>
          </p:nvPr>
        </p:nvSpPr>
        <p:spPr>
          <a:xfrm>
            <a:off x="1322666" y="4937760"/>
            <a:ext cx="6193274" cy="9147811"/>
          </a:xfrm>
        </p:spPr>
        <p:txBody>
          <a:bodyPr/>
          <a:lstStyle>
            <a:lvl1pPr marL="0" indent="0">
              <a:buNone/>
              <a:defRPr sz="3360"/>
            </a:lvl1pPr>
            <a:lvl2pPr marL="960120" indent="0">
              <a:buNone/>
              <a:defRPr sz="2940"/>
            </a:lvl2pPr>
            <a:lvl3pPr marL="1920240" indent="0">
              <a:buNone/>
              <a:defRPr sz="2520"/>
            </a:lvl3pPr>
            <a:lvl4pPr marL="2880360" indent="0">
              <a:buNone/>
              <a:defRPr sz="2100"/>
            </a:lvl4pPr>
            <a:lvl5pPr marL="3840480" indent="0">
              <a:buNone/>
              <a:defRPr sz="2100"/>
            </a:lvl5pPr>
            <a:lvl6pPr marL="4800600" indent="0">
              <a:buNone/>
              <a:defRPr sz="2100"/>
            </a:lvl6pPr>
            <a:lvl7pPr marL="5760720" indent="0">
              <a:buNone/>
              <a:defRPr sz="2100"/>
            </a:lvl7pPr>
            <a:lvl8pPr marL="6720840" indent="0">
              <a:buNone/>
              <a:defRPr sz="2100"/>
            </a:lvl8pPr>
            <a:lvl9pPr marL="7680960" indent="0">
              <a:buNone/>
              <a:defRPr sz="2100"/>
            </a:lvl9pPr>
          </a:lstStyle>
          <a:p>
            <a:pPr lvl="0"/>
            <a:r>
              <a:rPr lang="en-US"/>
              <a:t>Edit Master text styles</a:t>
            </a:r>
          </a:p>
        </p:txBody>
      </p:sp>
      <p:sp>
        <p:nvSpPr>
          <p:cNvPr id="5" name="Date Placeholder 4"/>
          <p:cNvSpPr>
            <a:spLocks noGrp="1"/>
          </p:cNvSpPr>
          <p:nvPr>
            <p:ph type="dt" sz="half" idx="10"/>
          </p:nvPr>
        </p:nvSpPr>
        <p:spPr/>
        <p:txBody>
          <a:bodyPr/>
          <a:lstStyle/>
          <a:p>
            <a:fld id="{74779B83-71F0-4C5C-A705-02D0D2504C07}" type="datetimeFigureOut">
              <a:rPr lang="en-US" smtClean="0"/>
              <a:t>7/21/25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211853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779B83-71F0-4C5C-A705-02D0D2504C07}" type="datetimeFigureOut">
              <a:rPr lang="en-US" smtClean="0"/>
              <a:t>7/21/25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2786657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741718" y="876300"/>
            <a:ext cx="4140518" cy="139484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20166" y="876300"/>
            <a:ext cx="12181523" cy="1394841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779B83-71F0-4C5C-A705-02D0D2504C07}" type="datetimeFigureOut">
              <a:rPr lang="en-US" smtClean="0"/>
              <a:t>7/21/25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51D126-BC0F-4868-B315-EE3DCDF2D998}" type="slidenum">
              <a:rPr lang="en-US" smtClean="0"/>
              <a:t>‹#›</a:t>
            </a:fld>
            <a:endParaRPr lang="en-US"/>
          </a:p>
        </p:txBody>
      </p:sp>
    </p:spTree>
    <p:extLst>
      <p:ext uri="{BB962C8B-B14F-4D97-AF65-F5344CB8AC3E}">
        <p14:creationId xmlns:p14="http://schemas.microsoft.com/office/powerpoint/2010/main" val="1771298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0165" y="876304"/>
            <a:ext cx="16562070" cy="318135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20165" y="4381500"/>
            <a:ext cx="16562070" cy="1044321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20165" y="15255244"/>
            <a:ext cx="4320540" cy="876300"/>
          </a:xfrm>
          <a:prstGeom prst="rect">
            <a:avLst/>
          </a:prstGeom>
        </p:spPr>
        <p:txBody>
          <a:bodyPr vert="horz" lIns="91440" tIns="45720" rIns="91440" bIns="45720" rtlCol="0" anchor="ctr"/>
          <a:lstStyle>
            <a:lvl1pPr algn="l">
              <a:defRPr sz="2520">
                <a:solidFill>
                  <a:schemeClr val="tx1">
                    <a:tint val="75000"/>
                  </a:schemeClr>
                </a:solidFill>
              </a:defRPr>
            </a:lvl1pPr>
          </a:lstStyle>
          <a:p>
            <a:fld id="{74779B83-71F0-4C5C-A705-02D0D2504C07}" type="datetimeFigureOut">
              <a:rPr lang="en-US" smtClean="0"/>
              <a:t>7/21/25</a:t>
            </a:fld>
            <a:endParaRPr lang="en-US"/>
          </a:p>
        </p:txBody>
      </p:sp>
      <p:sp>
        <p:nvSpPr>
          <p:cNvPr id="5" name="Footer Placeholder 4"/>
          <p:cNvSpPr>
            <a:spLocks noGrp="1"/>
          </p:cNvSpPr>
          <p:nvPr>
            <p:ph type="ftr" sz="quarter" idx="3"/>
          </p:nvPr>
        </p:nvSpPr>
        <p:spPr>
          <a:xfrm>
            <a:off x="6360795" y="15255244"/>
            <a:ext cx="6480810" cy="876300"/>
          </a:xfrm>
          <a:prstGeom prst="rect">
            <a:avLst/>
          </a:prstGeom>
        </p:spPr>
        <p:txBody>
          <a:bodyPr vert="horz" lIns="91440" tIns="45720" rIns="91440" bIns="45720" rtlCol="0" anchor="ctr"/>
          <a:lstStyle>
            <a:lvl1pPr algn="ctr">
              <a:defRPr sz="25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561695" y="15255244"/>
            <a:ext cx="4320540" cy="876300"/>
          </a:xfrm>
          <a:prstGeom prst="rect">
            <a:avLst/>
          </a:prstGeom>
        </p:spPr>
        <p:txBody>
          <a:bodyPr vert="horz" lIns="91440" tIns="45720" rIns="91440" bIns="45720" rtlCol="0" anchor="ctr"/>
          <a:lstStyle>
            <a:lvl1pPr algn="r">
              <a:defRPr sz="2520">
                <a:solidFill>
                  <a:schemeClr val="tx1">
                    <a:tint val="75000"/>
                  </a:schemeClr>
                </a:solidFill>
              </a:defRPr>
            </a:lvl1pPr>
          </a:lstStyle>
          <a:p>
            <a:fld id="{0E51D126-BC0F-4868-B315-EE3DCDF2D998}" type="slidenum">
              <a:rPr lang="en-US" smtClean="0"/>
              <a:t>‹#›</a:t>
            </a:fld>
            <a:endParaRPr lang="en-US"/>
          </a:p>
        </p:txBody>
      </p:sp>
    </p:spTree>
    <p:extLst>
      <p:ext uri="{BB962C8B-B14F-4D97-AF65-F5344CB8AC3E}">
        <p14:creationId xmlns:p14="http://schemas.microsoft.com/office/powerpoint/2010/main" val="31096451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920240" rtl="0" eaLnBrk="1" latinLnBrk="0" hangingPunct="1">
        <a:lnSpc>
          <a:spcPct val="90000"/>
        </a:lnSpc>
        <a:spcBef>
          <a:spcPct val="0"/>
        </a:spcBef>
        <a:buNone/>
        <a:defRPr sz="9240" kern="1200">
          <a:solidFill>
            <a:schemeClr val="tx1"/>
          </a:solidFill>
          <a:latin typeface="+mj-lt"/>
          <a:ea typeface="+mj-ea"/>
          <a:cs typeface="+mj-cs"/>
        </a:defRPr>
      </a:lvl1pPr>
    </p:titleStyle>
    <p:bodyStyle>
      <a:lvl1pPr marL="480060" indent="-480060" algn="l" defTabSz="1920240" rtl="0" eaLnBrk="1" latinLnBrk="0" hangingPunct="1">
        <a:lnSpc>
          <a:spcPct val="90000"/>
        </a:lnSpc>
        <a:spcBef>
          <a:spcPts val="2100"/>
        </a:spcBef>
        <a:buFont typeface="Arial" panose="020B0604020202020204" pitchFamily="34" charset="0"/>
        <a:buChar char="•"/>
        <a:defRPr sz="5880" kern="1200">
          <a:solidFill>
            <a:schemeClr val="tx1"/>
          </a:solidFill>
          <a:latin typeface="+mn-lt"/>
          <a:ea typeface="+mn-ea"/>
          <a:cs typeface="+mn-cs"/>
        </a:defRPr>
      </a:lvl1pPr>
      <a:lvl2pPr marL="1440180" indent="-480060" algn="l" defTabSz="1920240" rtl="0" eaLnBrk="1" latinLnBrk="0" hangingPunct="1">
        <a:lnSpc>
          <a:spcPct val="90000"/>
        </a:lnSpc>
        <a:spcBef>
          <a:spcPts val="1050"/>
        </a:spcBef>
        <a:buFont typeface="Arial" panose="020B0604020202020204" pitchFamily="34" charset="0"/>
        <a:buChar char="•"/>
        <a:defRPr sz="5040" kern="1200">
          <a:solidFill>
            <a:schemeClr val="tx1"/>
          </a:solidFill>
          <a:latin typeface="+mn-lt"/>
          <a:ea typeface="+mn-ea"/>
          <a:cs typeface="+mn-cs"/>
        </a:defRPr>
      </a:lvl2pPr>
      <a:lvl3pPr marL="2400300" indent="-480060" algn="l" defTabSz="1920240" rtl="0" eaLnBrk="1" latinLnBrk="0" hangingPunct="1">
        <a:lnSpc>
          <a:spcPct val="90000"/>
        </a:lnSpc>
        <a:spcBef>
          <a:spcPts val="1050"/>
        </a:spcBef>
        <a:buFont typeface="Arial" panose="020B0604020202020204" pitchFamily="34" charset="0"/>
        <a:buChar char="•"/>
        <a:defRPr sz="4200" kern="1200">
          <a:solidFill>
            <a:schemeClr val="tx1"/>
          </a:solidFill>
          <a:latin typeface="+mn-lt"/>
          <a:ea typeface="+mn-ea"/>
          <a:cs typeface="+mn-cs"/>
        </a:defRPr>
      </a:lvl3pPr>
      <a:lvl4pPr marL="3360420" indent="-480060" algn="l" defTabSz="1920240" rtl="0" eaLnBrk="1" latinLnBrk="0" hangingPunct="1">
        <a:lnSpc>
          <a:spcPct val="90000"/>
        </a:lnSpc>
        <a:spcBef>
          <a:spcPts val="1050"/>
        </a:spcBef>
        <a:buFont typeface="Arial" panose="020B0604020202020204" pitchFamily="34" charset="0"/>
        <a:buChar char="•"/>
        <a:defRPr sz="3780" kern="1200">
          <a:solidFill>
            <a:schemeClr val="tx1"/>
          </a:solidFill>
          <a:latin typeface="+mn-lt"/>
          <a:ea typeface="+mn-ea"/>
          <a:cs typeface="+mn-cs"/>
        </a:defRPr>
      </a:lvl4pPr>
      <a:lvl5pPr marL="4320540" indent="-480060" algn="l" defTabSz="1920240" rtl="0" eaLnBrk="1" latinLnBrk="0" hangingPunct="1">
        <a:lnSpc>
          <a:spcPct val="90000"/>
        </a:lnSpc>
        <a:spcBef>
          <a:spcPts val="1050"/>
        </a:spcBef>
        <a:buFont typeface="Arial" panose="020B0604020202020204" pitchFamily="34" charset="0"/>
        <a:buChar char="•"/>
        <a:defRPr sz="3780" kern="1200">
          <a:solidFill>
            <a:schemeClr val="tx1"/>
          </a:solidFill>
          <a:latin typeface="+mn-lt"/>
          <a:ea typeface="+mn-ea"/>
          <a:cs typeface="+mn-cs"/>
        </a:defRPr>
      </a:lvl5pPr>
      <a:lvl6pPr marL="5280660" indent="-480060" algn="l" defTabSz="1920240" rtl="0" eaLnBrk="1" latinLnBrk="0" hangingPunct="1">
        <a:lnSpc>
          <a:spcPct val="90000"/>
        </a:lnSpc>
        <a:spcBef>
          <a:spcPts val="1050"/>
        </a:spcBef>
        <a:buFont typeface="Arial" panose="020B0604020202020204" pitchFamily="34" charset="0"/>
        <a:buChar char="•"/>
        <a:defRPr sz="3780" kern="1200">
          <a:solidFill>
            <a:schemeClr val="tx1"/>
          </a:solidFill>
          <a:latin typeface="+mn-lt"/>
          <a:ea typeface="+mn-ea"/>
          <a:cs typeface="+mn-cs"/>
        </a:defRPr>
      </a:lvl6pPr>
      <a:lvl7pPr marL="6240780" indent="-480060" algn="l" defTabSz="1920240" rtl="0" eaLnBrk="1" latinLnBrk="0" hangingPunct="1">
        <a:lnSpc>
          <a:spcPct val="90000"/>
        </a:lnSpc>
        <a:spcBef>
          <a:spcPts val="1050"/>
        </a:spcBef>
        <a:buFont typeface="Arial" panose="020B0604020202020204" pitchFamily="34" charset="0"/>
        <a:buChar char="•"/>
        <a:defRPr sz="3780" kern="1200">
          <a:solidFill>
            <a:schemeClr val="tx1"/>
          </a:solidFill>
          <a:latin typeface="+mn-lt"/>
          <a:ea typeface="+mn-ea"/>
          <a:cs typeface="+mn-cs"/>
        </a:defRPr>
      </a:lvl7pPr>
      <a:lvl8pPr marL="7200900" indent="-480060" algn="l" defTabSz="1920240" rtl="0" eaLnBrk="1" latinLnBrk="0" hangingPunct="1">
        <a:lnSpc>
          <a:spcPct val="90000"/>
        </a:lnSpc>
        <a:spcBef>
          <a:spcPts val="1050"/>
        </a:spcBef>
        <a:buFont typeface="Arial" panose="020B0604020202020204" pitchFamily="34" charset="0"/>
        <a:buChar char="•"/>
        <a:defRPr sz="3780" kern="1200">
          <a:solidFill>
            <a:schemeClr val="tx1"/>
          </a:solidFill>
          <a:latin typeface="+mn-lt"/>
          <a:ea typeface="+mn-ea"/>
          <a:cs typeface="+mn-cs"/>
        </a:defRPr>
      </a:lvl8pPr>
      <a:lvl9pPr marL="8161020" indent="-480060" algn="l" defTabSz="1920240" rtl="0" eaLnBrk="1" latinLnBrk="0" hangingPunct="1">
        <a:lnSpc>
          <a:spcPct val="90000"/>
        </a:lnSpc>
        <a:spcBef>
          <a:spcPts val="1050"/>
        </a:spcBef>
        <a:buFont typeface="Arial" panose="020B0604020202020204" pitchFamily="34" charset="0"/>
        <a:buChar char="•"/>
        <a:defRPr sz="3780" kern="1200">
          <a:solidFill>
            <a:schemeClr val="tx1"/>
          </a:solidFill>
          <a:latin typeface="+mn-lt"/>
          <a:ea typeface="+mn-ea"/>
          <a:cs typeface="+mn-cs"/>
        </a:defRPr>
      </a:lvl9pPr>
    </p:bodyStyle>
    <p:otherStyle>
      <a:defPPr>
        <a:defRPr lang="en-US"/>
      </a:defPPr>
      <a:lvl1pPr marL="0" algn="l" defTabSz="1920240" rtl="0" eaLnBrk="1" latinLnBrk="0" hangingPunct="1">
        <a:defRPr sz="3780" kern="1200">
          <a:solidFill>
            <a:schemeClr val="tx1"/>
          </a:solidFill>
          <a:latin typeface="+mn-lt"/>
          <a:ea typeface="+mn-ea"/>
          <a:cs typeface="+mn-cs"/>
        </a:defRPr>
      </a:lvl1pPr>
      <a:lvl2pPr marL="960120" algn="l" defTabSz="1920240" rtl="0" eaLnBrk="1" latinLnBrk="0" hangingPunct="1">
        <a:defRPr sz="3780" kern="1200">
          <a:solidFill>
            <a:schemeClr val="tx1"/>
          </a:solidFill>
          <a:latin typeface="+mn-lt"/>
          <a:ea typeface="+mn-ea"/>
          <a:cs typeface="+mn-cs"/>
        </a:defRPr>
      </a:lvl2pPr>
      <a:lvl3pPr marL="1920240" algn="l" defTabSz="1920240" rtl="0" eaLnBrk="1" latinLnBrk="0" hangingPunct="1">
        <a:defRPr sz="3780" kern="1200">
          <a:solidFill>
            <a:schemeClr val="tx1"/>
          </a:solidFill>
          <a:latin typeface="+mn-lt"/>
          <a:ea typeface="+mn-ea"/>
          <a:cs typeface="+mn-cs"/>
        </a:defRPr>
      </a:lvl3pPr>
      <a:lvl4pPr marL="2880360" algn="l" defTabSz="1920240" rtl="0" eaLnBrk="1" latinLnBrk="0" hangingPunct="1">
        <a:defRPr sz="3780" kern="1200">
          <a:solidFill>
            <a:schemeClr val="tx1"/>
          </a:solidFill>
          <a:latin typeface="+mn-lt"/>
          <a:ea typeface="+mn-ea"/>
          <a:cs typeface="+mn-cs"/>
        </a:defRPr>
      </a:lvl4pPr>
      <a:lvl5pPr marL="3840480" algn="l" defTabSz="1920240" rtl="0" eaLnBrk="1" latinLnBrk="0" hangingPunct="1">
        <a:defRPr sz="3780" kern="1200">
          <a:solidFill>
            <a:schemeClr val="tx1"/>
          </a:solidFill>
          <a:latin typeface="+mn-lt"/>
          <a:ea typeface="+mn-ea"/>
          <a:cs typeface="+mn-cs"/>
        </a:defRPr>
      </a:lvl5pPr>
      <a:lvl6pPr marL="4800600" algn="l" defTabSz="1920240" rtl="0" eaLnBrk="1" latinLnBrk="0" hangingPunct="1">
        <a:defRPr sz="3780" kern="1200">
          <a:solidFill>
            <a:schemeClr val="tx1"/>
          </a:solidFill>
          <a:latin typeface="+mn-lt"/>
          <a:ea typeface="+mn-ea"/>
          <a:cs typeface="+mn-cs"/>
        </a:defRPr>
      </a:lvl6pPr>
      <a:lvl7pPr marL="5760720" algn="l" defTabSz="1920240" rtl="0" eaLnBrk="1" latinLnBrk="0" hangingPunct="1">
        <a:defRPr sz="3780" kern="1200">
          <a:solidFill>
            <a:schemeClr val="tx1"/>
          </a:solidFill>
          <a:latin typeface="+mn-lt"/>
          <a:ea typeface="+mn-ea"/>
          <a:cs typeface="+mn-cs"/>
        </a:defRPr>
      </a:lvl7pPr>
      <a:lvl8pPr marL="6720840" algn="l" defTabSz="1920240" rtl="0" eaLnBrk="1" latinLnBrk="0" hangingPunct="1">
        <a:defRPr sz="3780" kern="1200">
          <a:solidFill>
            <a:schemeClr val="tx1"/>
          </a:solidFill>
          <a:latin typeface="+mn-lt"/>
          <a:ea typeface="+mn-ea"/>
          <a:cs typeface="+mn-cs"/>
        </a:defRPr>
      </a:lvl8pPr>
      <a:lvl9pPr marL="7680960" algn="l" defTabSz="1920240" rtl="0" eaLnBrk="1" latinLnBrk="0" hangingPunct="1">
        <a:defRPr sz="37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image" Target="../media/image2.png"/><Relationship Id="rId21" Type="http://schemas.openxmlformats.org/officeDocument/2006/relationships/image" Target="../media/image17.png"/><Relationship Id="rId7" Type="http://schemas.openxmlformats.org/officeDocument/2006/relationships/image" Target="../media/image5.png"/><Relationship Id="rId12" Type="http://schemas.openxmlformats.org/officeDocument/2006/relationships/hyperlink" Target="https://www.prisonpolicy.org/data/prison_pops_2019_2023_sources.html" TargetMode="External"/><Relationship Id="rId17" Type="http://schemas.openxmlformats.org/officeDocument/2006/relationships/image" Target="../media/image13.png"/><Relationship Id="rId2" Type="http://schemas.openxmlformats.org/officeDocument/2006/relationships/image" Target="../media/image1.png"/><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hyperlink" Target="https://www.crimrxiv.com/pub/foc1r0lf" TargetMode="External"/><Relationship Id="rId11" Type="http://schemas.openxmlformats.org/officeDocument/2006/relationships/hyperlink" Target="https://doi.org/10.3886/ICPSR38871.v1" TargetMode="External"/><Relationship Id="rId5" Type="http://schemas.openxmlformats.org/officeDocument/2006/relationships/image" Target="../media/image4.png"/><Relationship Id="rId15" Type="http://schemas.openxmlformats.org/officeDocument/2006/relationships/image" Target="../media/image11.png"/><Relationship Id="rId10" Type="http://schemas.openxmlformats.org/officeDocument/2006/relationships/image" Target="../media/image8.png"/><Relationship Id="rId19" Type="http://schemas.openxmlformats.org/officeDocument/2006/relationships/image" Target="../media/image15.png"/><Relationship Id="rId4" Type="http://schemas.openxmlformats.org/officeDocument/2006/relationships/image" Target="../media/image3.jpg"/><Relationship Id="rId9" Type="http://schemas.openxmlformats.org/officeDocument/2006/relationships/image" Target="../media/image7.png"/><Relationship Id="rId14" Type="http://schemas.openxmlformats.org/officeDocument/2006/relationships/image" Target="../media/image10.png"/><Relationship Id="rId22"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6" name="Straight Connector 75">
            <a:extLst>
              <a:ext uri="{FF2B5EF4-FFF2-40B4-BE49-F238E27FC236}">
                <a16:creationId xmlns:a16="http://schemas.microsoft.com/office/drawing/2014/main" id="{8DC90617-48A3-D440-43F3-858F85928AD1}"/>
              </a:ext>
            </a:extLst>
          </p:cNvPr>
          <p:cNvCxnSpPr>
            <a:cxnSpLocks/>
          </p:cNvCxnSpPr>
          <p:nvPr/>
        </p:nvCxnSpPr>
        <p:spPr>
          <a:xfrm>
            <a:off x="160725" y="15600217"/>
            <a:ext cx="18880949" cy="0"/>
          </a:xfrm>
          <a:prstGeom prst="line">
            <a:avLst/>
          </a:prstGeom>
          <a:ln w="25400" cap="flat" cmpd="sng">
            <a:solidFill>
              <a:schemeClr val="accent1">
                <a:alpha val="70177"/>
              </a:schemeClr>
            </a:solidFill>
            <a:miter lim="800000"/>
          </a:ln>
        </p:spPr>
        <p:style>
          <a:lnRef idx="1">
            <a:schemeClr val="accent1"/>
          </a:lnRef>
          <a:fillRef idx="0">
            <a:schemeClr val="accent1"/>
          </a:fillRef>
          <a:effectRef idx="0">
            <a:schemeClr val="accent1"/>
          </a:effectRef>
          <a:fontRef idx="minor">
            <a:schemeClr val="tx1"/>
          </a:fontRef>
        </p:style>
      </p:cxnSp>
      <p:grpSp>
        <p:nvGrpSpPr>
          <p:cNvPr id="101" name="Group 100">
            <a:extLst>
              <a:ext uri="{FF2B5EF4-FFF2-40B4-BE49-F238E27FC236}">
                <a16:creationId xmlns:a16="http://schemas.microsoft.com/office/drawing/2014/main" id="{BC7F74AF-2834-9B5D-BD3B-67FC1E0676A1}"/>
              </a:ext>
            </a:extLst>
          </p:cNvPr>
          <p:cNvGrpSpPr/>
          <p:nvPr/>
        </p:nvGrpSpPr>
        <p:grpSpPr>
          <a:xfrm>
            <a:off x="0" y="0"/>
            <a:ext cx="19202400" cy="16491634"/>
            <a:chOff x="0" y="0"/>
            <a:chExt cx="19202400" cy="16491634"/>
          </a:xfrm>
        </p:grpSpPr>
        <p:sp>
          <p:nvSpPr>
            <p:cNvPr id="2" name="TextBox 1">
              <a:extLst>
                <a:ext uri="{FF2B5EF4-FFF2-40B4-BE49-F238E27FC236}">
                  <a16:creationId xmlns:a16="http://schemas.microsoft.com/office/drawing/2014/main" id="{B57B7751-07B2-283C-2C8C-24D513AD5750}"/>
                </a:ext>
              </a:extLst>
            </p:cNvPr>
            <p:cNvSpPr txBox="1"/>
            <p:nvPr/>
          </p:nvSpPr>
          <p:spPr>
            <a:xfrm>
              <a:off x="0" y="0"/>
              <a:ext cx="19202400" cy="1077218"/>
            </a:xfrm>
            <a:prstGeom prst="rect">
              <a:avLst/>
            </a:prstGeom>
            <a:solidFill>
              <a:srgbClr val="0C2887"/>
            </a:solidFill>
            <a:ln>
              <a:solidFill>
                <a:schemeClr val="bg1"/>
              </a:solidFill>
            </a:ln>
          </p:spPr>
          <p:txBody>
            <a:bodyPr wrap="square" rtlCol="0">
              <a:spAutoFit/>
            </a:bodyPr>
            <a:lstStyle/>
            <a:p>
              <a:pPr algn="ctr"/>
              <a:r>
                <a:rPr lang="en-US" sz="4000" b="1" dirty="0">
                  <a:solidFill>
                    <a:schemeClr val="bg1"/>
                  </a:solidFill>
                </a:rPr>
                <a:t>Linking &amp; Analyzing Data on Deaths in US Prisons</a:t>
              </a:r>
            </a:p>
            <a:p>
              <a:pPr algn="ctr"/>
              <a:r>
                <a:rPr lang="en-US" sz="2400" b="1" dirty="0">
                  <a:solidFill>
                    <a:schemeClr val="bg1"/>
                  </a:solidFill>
                </a:rPr>
                <a:t>Ramil Mammadov, Johnathan Ross, Sam Grossman</a:t>
              </a:r>
            </a:p>
          </p:txBody>
        </p:sp>
        <p:grpSp>
          <p:nvGrpSpPr>
            <p:cNvPr id="12" name="Group 11">
              <a:extLst>
                <a:ext uri="{FF2B5EF4-FFF2-40B4-BE49-F238E27FC236}">
                  <a16:creationId xmlns:a16="http://schemas.microsoft.com/office/drawing/2014/main" id="{EC87BB08-9F76-5350-5188-DA677FBF8F96}"/>
                </a:ext>
              </a:extLst>
            </p:cNvPr>
            <p:cNvGrpSpPr/>
            <p:nvPr/>
          </p:nvGrpSpPr>
          <p:grpSpPr>
            <a:xfrm>
              <a:off x="16862425" y="75122"/>
              <a:ext cx="2239853" cy="917324"/>
              <a:chOff x="12047621" y="2812716"/>
              <a:chExt cx="5903496" cy="1873033"/>
            </a:xfrm>
          </p:grpSpPr>
          <p:sp>
            <p:nvSpPr>
              <p:cNvPr id="7" name="Rectangle 6">
                <a:extLst>
                  <a:ext uri="{FF2B5EF4-FFF2-40B4-BE49-F238E27FC236}">
                    <a16:creationId xmlns:a16="http://schemas.microsoft.com/office/drawing/2014/main" id="{AB3FC3F3-8C57-66D2-22E8-F6D25B6F1E68}"/>
                  </a:ext>
                </a:extLst>
              </p:cNvPr>
              <p:cNvSpPr/>
              <p:nvPr/>
            </p:nvSpPr>
            <p:spPr>
              <a:xfrm>
                <a:off x="12047621" y="2812716"/>
                <a:ext cx="5903496" cy="18730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blue text on a black background&#10;&#10;AI-generated content may be incorrect.">
                <a:extLst>
                  <a:ext uri="{FF2B5EF4-FFF2-40B4-BE49-F238E27FC236}">
                    <a16:creationId xmlns:a16="http://schemas.microsoft.com/office/drawing/2014/main" id="{8FD37A03-0B07-A295-64AA-23B96DB5C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75959" y="3211738"/>
                <a:ext cx="2457115" cy="1074988"/>
              </a:xfrm>
              <a:prstGeom prst="rect">
                <a:avLst/>
              </a:prstGeom>
            </p:spPr>
          </p:pic>
          <p:cxnSp>
            <p:nvCxnSpPr>
              <p:cNvPr id="10" name="Straight Connector 9">
                <a:extLst>
                  <a:ext uri="{FF2B5EF4-FFF2-40B4-BE49-F238E27FC236}">
                    <a16:creationId xmlns:a16="http://schemas.microsoft.com/office/drawing/2014/main" id="{8E15C456-AA53-95ED-D62B-CB975B5AC4F8}"/>
                  </a:ext>
                </a:extLst>
              </p:cNvPr>
              <p:cNvCxnSpPr>
                <a:cxnSpLocks/>
              </p:cNvCxnSpPr>
              <p:nvPr/>
            </p:nvCxnSpPr>
            <p:spPr>
              <a:xfrm>
                <a:off x="14806863" y="3211738"/>
                <a:ext cx="0" cy="1102089"/>
              </a:xfrm>
              <a:prstGeom prst="line">
                <a:avLst/>
              </a:prstGeom>
            </p:spPr>
            <p:style>
              <a:lnRef idx="3">
                <a:schemeClr val="dk1"/>
              </a:lnRef>
              <a:fillRef idx="0">
                <a:schemeClr val="dk1"/>
              </a:fillRef>
              <a:effectRef idx="2">
                <a:schemeClr val="dk1"/>
              </a:effectRef>
              <a:fontRef idx="minor">
                <a:schemeClr val="tx1"/>
              </a:fontRef>
            </p:style>
          </p:cxnSp>
          <p:pic>
            <p:nvPicPr>
              <p:cNvPr id="6" name="Picture 5" descr="A blue letters on a black background&#10;&#10;AI-generated content may be incorrect.">
                <a:extLst>
                  <a:ext uri="{FF2B5EF4-FFF2-40B4-BE49-F238E27FC236}">
                    <a16:creationId xmlns:a16="http://schemas.microsoft.com/office/drawing/2014/main" id="{76E75E88-96D2-B3E8-6507-85F20C618A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99369" y="3339059"/>
                <a:ext cx="2846137" cy="847445"/>
              </a:xfrm>
              <a:prstGeom prst="rect">
                <a:avLst/>
              </a:prstGeom>
            </p:spPr>
          </p:pic>
        </p:grpSp>
        <p:pic>
          <p:nvPicPr>
            <p:cNvPr id="14" name="Picture 13" descr="A logo for a project&#10;&#10;AI-generated content may be incorrect.">
              <a:extLst>
                <a:ext uri="{FF2B5EF4-FFF2-40B4-BE49-F238E27FC236}">
                  <a16:creationId xmlns:a16="http://schemas.microsoft.com/office/drawing/2014/main" id="{4C93DDDC-B74D-5126-8A20-0CA2E0F90D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121" y="75122"/>
              <a:ext cx="2384497" cy="928060"/>
            </a:xfrm>
            <a:prstGeom prst="rect">
              <a:avLst/>
            </a:prstGeom>
          </p:spPr>
        </p:pic>
        <p:grpSp>
          <p:nvGrpSpPr>
            <p:cNvPr id="100" name="Group 99">
              <a:extLst>
                <a:ext uri="{FF2B5EF4-FFF2-40B4-BE49-F238E27FC236}">
                  <a16:creationId xmlns:a16="http://schemas.microsoft.com/office/drawing/2014/main" id="{EC67F638-6C83-9A40-6699-68575717EC46}"/>
                </a:ext>
              </a:extLst>
            </p:cNvPr>
            <p:cNvGrpSpPr/>
            <p:nvPr/>
          </p:nvGrpSpPr>
          <p:grpSpPr>
            <a:xfrm>
              <a:off x="82181" y="1150426"/>
              <a:ext cx="19038037" cy="15341208"/>
              <a:chOff x="82181" y="1150426"/>
              <a:chExt cx="19038037" cy="15341208"/>
            </a:xfrm>
          </p:grpSpPr>
          <p:grpSp>
            <p:nvGrpSpPr>
              <p:cNvPr id="93" name="Group 92">
                <a:extLst>
                  <a:ext uri="{FF2B5EF4-FFF2-40B4-BE49-F238E27FC236}">
                    <a16:creationId xmlns:a16="http://schemas.microsoft.com/office/drawing/2014/main" id="{7C8F43FB-421B-FFB3-320C-8F6A14A24B59}"/>
                  </a:ext>
                </a:extLst>
              </p:cNvPr>
              <p:cNvGrpSpPr/>
              <p:nvPr/>
            </p:nvGrpSpPr>
            <p:grpSpPr>
              <a:xfrm>
                <a:off x="82181" y="1150426"/>
                <a:ext cx="10077515" cy="15341208"/>
                <a:chOff x="94847" y="1156213"/>
                <a:chExt cx="10077515" cy="15341208"/>
              </a:xfrm>
            </p:grpSpPr>
            <p:sp>
              <p:nvSpPr>
                <p:cNvPr id="18" name="TextBox 17">
                  <a:extLst>
                    <a:ext uri="{FF2B5EF4-FFF2-40B4-BE49-F238E27FC236}">
                      <a16:creationId xmlns:a16="http://schemas.microsoft.com/office/drawing/2014/main" id="{ACFB556F-C9DF-70C9-1D54-48CEC27917D7}"/>
                    </a:ext>
                  </a:extLst>
                </p:cNvPr>
                <p:cNvSpPr txBox="1"/>
                <p:nvPr/>
              </p:nvSpPr>
              <p:spPr>
                <a:xfrm>
                  <a:off x="173392" y="1156213"/>
                  <a:ext cx="9897674" cy="430887"/>
                </a:xfrm>
                <a:prstGeom prst="rect">
                  <a:avLst/>
                </a:prstGeom>
                <a:solidFill>
                  <a:schemeClr val="accent1"/>
                </a:solidFill>
              </p:spPr>
              <p:txBody>
                <a:bodyPr wrap="square" rtlCol="0">
                  <a:spAutoFit/>
                </a:bodyPr>
                <a:lstStyle/>
                <a:p>
                  <a:pPr algn="ctr"/>
                  <a:r>
                    <a:rPr lang="en-US" sz="2200" b="1" dirty="0"/>
                    <a:t>INTRODUCTION</a:t>
                  </a:r>
                </a:p>
              </p:txBody>
            </p:sp>
            <p:sp>
              <p:nvSpPr>
                <p:cNvPr id="41" name="TextBox 40">
                  <a:extLst>
                    <a:ext uri="{FF2B5EF4-FFF2-40B4-BE49-F238E27FC236}">
                      <a16:creationId xmlns:a16="http://schemas.microsoft.com/office/drawing/2014/main" id="{ED6E0807-C189-3681-1AF4-7A9845FF2974}"/>
                    </a:ext>
                  </a:extLst>
                </p:cNvPr>
                <p:cNvSpPr txBox="1"/>
                <p:nvPr/>
              </p:nvSpPr>
              <p:spPr>
                <a:xfrm>
                  <a:off x="101922" y="1605801"/>
                  <a:ext cx="10053780" cy="1788951"/>
                </a:xfrm>
                <a:prstGeom prst="rect">
                  <a:avLst/>
                </a:prstGeom>
                <a:noFill/>
              </p:spPr>
              <p:txBody>
                <a:bodyPr wrap="square" rtlCol="0">
                  <a:spAutoFit/>
                </a:bodyPr>
                <a:lstStyle/>
                <a:p>
                  <a:pPr algn="just">
                    <a:lnSpc>
                      <a:spcPct val="90000"/>
                    </a:lnSpc>
                  </a:pPr>
                  <a:r>
                    <a:rPr lang="en-US" sz="1750" dirty="0"/>
                    <a:t>The </a:t>
                  </a:r>
                  <a:r>
                    <a:rPr lang="en-US" sz="1750" b="1" dirty="0"/>
                    <a:t>Death in Custody Reporting Act of 2013 </a:t>
                  </a:r>
                  <a:r>
                    <a:rPr lang="en-US" sz="1750" dirty="0"/>
                    <a:t>(DCRA) legally requires all U.S. prison systems to report all in-custody deaths to the </a:t>
                  </a:r>
                  <a:r>
                    <a:rPr lang="en-US" sz="1750" b="1" dirty="0"/>
                    <a:t>U.S. Attorney General</a:t>
                  </a:r>
                  <a:r>
                    <a:rPr lang="en-US" sz="1750" dirty="0"/>
                    <a:t>, along with corresponding circumstantial and demographic information. Until 2019, the </a:t>
                  </a:r>
                  <a:r>
                    <a:rPr lang="en-US" sz="1750" b="1" dirty="0"/>
                    <a:t>Department of Justice </a:t>
                  </a:r>
                  <a:r>
                    <a:rPr lang="en-US" sz="1750" dirty="0"/>
                    <a:t>(DOJ) would publish this data annually, giving stakeholders vital information regarding prison health trends. However, after administrative failures in data collection and enforcing compliance with the DCRA, the DOJ stopped publishing this data. To address the reporting void, the </a:t>
                  </a:r>
                  <a:r>
                    <a:rPr lang="en-US" sz="1750" b="1" dirty="0"/>
                    <a:t>Third City Project</a:t>
                  </a:r>
                  <a:r>
                    <a:rPr lang="en-US" sz="1750" dirty="0"/>
                    <a:t>, part of the Bellwether Collective for Health Justice, created the most comprehensive dataset of prisoner deaths by merging federal records with state correctional press releases.</a:t>
                  </a:r>
                </a:p>
              </p:txBody>
            </p:sp>
            <p:sp>
              <p:nvSpPr>
                <p:cNvPr id="19" name="TextBox 18">
                  <a:extLst>
                    <a:ext uri="{FF2B5EF4-FFF2-40B4-BE49-F238E27FC236}">
                      <a16:creationId xmlns:a16="http://schemas.microsoft.com/office/drawing/2014/main" id="{D11EE9D2-56D4-054D-7DE6-1D87A67E16FA}"/>
                    </a:ext>
                  </a:extLst>
                </p:cNvPr>
                <p:cNvSpPr txBox="1"/>
                <p:nvPr/>
              </p:nvSpPr>
              <p:spPr>
                <a:xfrm>
                  <a:off x="173392" y="3400768"/>
                  <a:ext cx="3306892" cy="430887"/>
                </a:xfrm>
                <a:prstGeom prst="rect">
                  <a:avLst/>
                </a:prstGeom>
                <a:solidFill>
                  <a:schemeClr val="accent1"/>
                </a:solidFill>
              </p:spPr>
              <p:txBody>
                <a:bodyPr wrap="square" rtlCol="0">
                  <a:spAutoFit/>
                </a:bodyPr>
                <a:lstStyle/>
                <a:p>
                  <a:pPr algn="ctr"/>
                  <a:r>
                    <a:rPr lang="en-US" sz="2200" b="1" dirty="0"/>
                    <a:t>OBJECTIVES</a:t>
                  </a:r>
                </a:p>
              </p:txBody>
            </p:sp>
            <p:sp>
              <p:nvSpPr>
                <p:cNvPr id="42" name="TextBox 41">
                  <a:extLst>
                    <a:ext uri="{FF2B5EF4-FFF2-40B4-BE49-F238E27FC236}">
                      <a16:creationId xmlns:a16="http://schemas.microsoft.com/office/drawing/2014/main" id="{09321230-36FE-21A7-8349-98B4D2186D51}"/>
                    </a:ext>
                  </a:extLst>
                </p:cNvPr>
                <p:cNvSpPr txBox="1"/>
                <p:nvPr/>
              </p:nvSpPr>
              <p:spPr>
                <a:xfrm>
                  <a:off x="101921" y="3831655"/>
                  <a:ext cx="3455550" cy="2834622"/>
                </a:xfrm>
                <a:prstGeom prst="rect">
                  <a:avLst/>
                </a:prstGeom>
                <a:noFill/>
              </p:spPr>
              <p:txBody>
                <a:bodyPr wrap="square" rtlCol="0">
                  <a:spAutoFit/>
                </a:bodyPr>
                <a:lstStyle/>
                <a:p>
                  <a:pPr algn="just">
                    <a:lnSpc>
                      <a:spcPct val="90000"/>
                    </a:lnSpc>
                  </a:pPr>
                  <a:r>
                    <a:rPr lang="en-US" sz="1750" dirty="0"/>
                    <a:t>This project focuses on three goals:</a:t>
                  </a:r>
                </a:p>
                <a:p>
                  <a:pPr marL="285750" indent="-285750" algn="just">
                    <a:lnSpc>
                      <a:spcPct val="90000"/>
                    </a:lnSpc>
                    <a:buFont typeface="Arial" panose="020B0604020202020204" pitchFamily="34" charset="0"/>
                    <a:buChar char="•"/>
                  </a:pPr>
                  <a:r>
                    <a:rPr lang="en-US" sz="1750" b="1" dirty="0"/>
                    <a:t>Expand </a:t>
                  </a:r>
                  <a:r>
                    <a:rPr lang="en-US" sz="1750" dirty="0"/>
                    <a:t>the Third City Project database using Department of Corrections press releases from all states and Washington D.C.</a:t>
                  </a:r>
                </a:p>
                <a:p>
                  <a:pPr marL="285750" indent="-285750" algn="just">
                    <a:lnSpc>
                      <a:spcPct val="90000"/>
                    </a:lnSpc>
                    <a:buFont typeface="Arial" panose="020B0604020202020204" pitchFamily="34" charset="0"/>
                    <a:buChar char="•"/>
                  </a:pPr>
                  <a:r>
                    <a:rPr lang="en-US" sz="1750" dirty="0"/>
                    <a:t> </a:t>
                  </a:r>
                  <a:r>
                    <a:rPr lang="en-US" sz="1750" b="1" dirty="0"/>
                    <a:t>Analyze </a:t>
                  </a:r>
                  <a:r>
                    <a:rPr lang="en-US" sz="1750" dirty="0"/>
                    <a:t>prison mortality trends using data analysis with the Third City Project database.</a:t>
                  </a:r>
                </a:p>
                <a:p>
                  <a:pPr marL="285750" indent="-285750" algn="just">
                    <a:lnSpc>
                      <a:spcPct val="90000"/>
                    </a:lnSpc>
                    <a:buFont typeface="Arial" panose="020B0604020202020204" pitchFamily="34" charset="0"/>
                    <a:buChar char="•"/>
                  </a:pPr>
                  <a:r>
                    <a:rPr lang="en-US" sz="1750" b="1" dirty="0"/>
                    <a:t>Build </a:t>
                  </a:r>
                  <a:r>
                    <a:rPr lang="en-US" sz="1750" dirty="0"/>
                    <a:t>an interactive map to visualize prison death trends and data across U.S. states.</a:t>
                  </a:r>
                </a:p>
              </p:txBody>
            </p:sp>
            <p:sp>
              <p:nvSpPr>
                <p:cNvPr id="20" name="TextBox 19">
                  <a:extLst>
                    <a:ext uri="{FF2B5EF4-FFF2-40B4-BE49-F238E27FC236}">
                      <a16:creationId xmlns:a16="http://schemas.microsoft.com/office/drawing/2014/main" id="{C71299D6-A4B9-941C-BB46-DF7EFBBE74CF}"/>
                    </a:ext>
                  </a:extLst>
                </p:cNvPr>
                <p:cNvSpPr txBox="1"/>
                <p:nvPr/>
              </p:nvSpPr>
              <p:spPr>
                <a:xfrm>
                  <a:off x="3842733" y="3393269"/>
                  <a:ext cx="6228333" cy="430887"/>
                </a:xfrm>
                <a:prstGeom prst="rect">
                  <a:avLst/>
                </a:prstGeom>
                <a:solidFill>
                  <a:schemeClr val="accent1"/>
                </a:solidFill>
              </p:spPr>
              <p:txBody>
                <a:bodyPr wrap="square" rtlCol="0">
                  <a:spAutoFit/>
                </a:bodyPr>
                <a:lstStyle/>
                <a:p>
                  <a:pPr algn="ctr"/>
                  <a:r>
                    <a:rPr lang="en-US" sz="2200" b="1" dirty="0"/>
                    <a:t>LIMITATIONS</a:t>
                  </a:r>
                  <a:r>
                    <a:rPr lang="en-US" sz="2000" b="1" dirty="0"/>
                    <a:t> </a:t>
                  </a:r>
                </a:p>
              </p:txBody>
            </p:sp>
            <p:sp>
              <p:nvSpPr>
                <p:cNvPr id="43" name="TextBox 42">
                  <a:extLst>
                    <a:ext uri="{FF2B5EF4-FFF2-40B4-BE49-F238E27FC236}">
                      <a16:creationId xmlns:a16="http://schemas.microsoft.com/office/drawing/2014/main" id="{E51D8A06-3014-6475-FD02-264768DAE219}"/>
                    </a:ext>
                  </a:extLst>
                </p:cNvPr>
                <p:cNvSpPr txBox="1"/>
                <p:nvPr/>
              </p:nvSpPr>
              <p:spPr>
                <a:xfrm>
                  <a:off x="3777565" y="3824156"/>
                  <a:ext cx="6393813" cy="2758447"/>
                </a:xfrm>
                <a:prstGeom prst="rect">
                  <a:avLst/>
                </a:prstGeom>
                <a:noFill/>
              </p:spPr>
              <p:txBody>
                <a:bodyPr wrap="square" rtlCol="0">
                  <a:spAutoFit/>
                </a:bodyPr>
                <a:lstStyle/>
                <a:p>
                  <a:pPr algn="just">
                    <a:lnSpc>
                      <a:spcPct val="90000"/>
                    </a:lnSpc>
                  </a:pPr>
                  <a:r>
                    <a:rPr lang="en-US" sz="1750" dirty="0"/>
                    <a:t>While this project improves public understanding of prisoner deaths by linking multiple data sources, it operates within a </a:t>
                  </a:r>
                  <a:r>
                    <a:rPr lang="en-US" sz="1750" b="1" dirty="0"/>
                    <a:t>fragmented reporting system</a:t>
                  </a:r>
                  <a:r>
                    <a:rPr lang="en-US" sz="1750" dirty="0"/>
                    <a:t>. Inconsistent death in-custody reporting practices across states and missing data challenge efforts to build a complete picture of national prison mortality.</a:t>
                  </a:r>
                </a:p>
                <a:p>
                  <a:pPr algn="just">
                    <a:lnSpc>
                      <a:spcPct val="90000"/>
                    </a:lnSpc>
                  </a:pPr>
                  <a:r>
                    <a:rPr lang="en-US" sz="1750" b="1" dirty="0"/>
                    <a:t>Key barriers </a:t>
                  </a:r>
                  <a:r>
                    <a:rPr lang="en-US" sz="1750" dirty="0"/>
                    <a:t>include:</a:t>
                  </a:r>
                </a:p>
                <a:p>
                  <a:pPr marL="285750" indent="-285750" algn="just">
                    <a:lnSpc>
                      <a:spcPct val="90000"/>
                    </a:lnSpc>
                    <a:buFont typeface="Wingdings" pitchFamily="2" charset="2"/>
                    <a:buChar char="§"/>
                  </a:pPr>
                  <a:r>
                    <a:rPr lang="en-US" sz="1750" dirty="0"/>
                    <a:t>Incomplete or delayed records from states, creating data gaps.</a:t>
                  </a:r>
                </a:p>
                <a:p>
                  <a:pPr marL="285750" indent="-285750" algn="just">
                    <a:lnSpc>
                      <a:spcPct val="90000"/>
                    </a:lnSpc>
                    <a:buFont typeface="Wingdings" pitchFamily="2" charset="2"/>
                    <a:buChar char="§"/>
                  </a:pPr>
                  <a:r>
                    <a:rPr lang="en-US" sz="1750" dirty="0"/>
                    <a:t>Inconsistent terminology and formats, making comparing different jurisdictions difficult.</a:t>
                  </a:r>
                </a:p>
                <a:p>
                  <a:pPr marL="285750" indent="-285750" algn="just">
                    <a:lnSpc>
                      <a:spcPct val="90000"/>
                    </a:lnSpc>
                    <a:buFont typeface="Wingdings" pitchFamily="2" charset="2"/>
                    <a:buChar char="§"/>
                  </a:pPr>
                  <a:r>
                    <a:rPr lang="en-US" sz="1750" dirty="0"/>
                    <a:t>Missing demographic and cause-of-death data, limiting analysis.</a:t>
                  </a:r>
                </a:p>
                <a:p>
                  <a:pPr marL="285750" indent="-285750" algn="just">
                    <a:lnSpc>
                      <a:spcPct val="90000"/>
                    </a:lnSpc>
                    <a:buFont typeface="Wingdings" pitchFamily="2" charset="2"/>
                    <a:buChar char="§"/>
                  </a:pPr>
                  <a:r>
                    <a:rPr lang="en-US" sz="1750" dirty="0"/>
                    <a:t>Many jurisdictions underreport actual deaths, reducing accuracy.</a:t>
                  </a:r>
                </a:p>
              </p:txBody>
            </p:sp>
            <p:sp>
              <p:nvSpPr>
                <p:cNvPr id="22" name="TextBox 21">
                  <a:extLst>
                    <a:ext uri="{FF2B5EF4-FFF2-40B4-BE49-F238E27FC236}">
                      <a16:creationId xmlns:a16="http://schemas.microsoft.com/office/drawing/2014/main" id="{B6844C3B-C1F0-BFA7-1923-2203ED733578}"/>
                    </a:ext>
                  </a:extLst>
                </p:cNvPr>
                <p:cNvSpPr txBox="1"/>
                <p:nvPr/>
              </p:nvSpPr>
              <p:spPr>
                <a:xfrm>
                  <a:off x="173392" y="6570118"/>
                  <a:ext cx="9897674" cy="430887"/>
                </a:xfrm>
                <a:prstGeom prst="rect">
                  <a:avLst/>
                </a:prstGeom>
                <a:solidFill>
                  <a:schemeClr val="accent1"/>
                </a:solidFill>
              </p:spPr>
              <p:txBody>
                <a:bodyPr wrap="square" rtlCol="0">
                  <a:spAutoFit/>
                </a:bodyPr>
                <a:lstStyle/>
                <a:p>
                  <a:pPr algn="ctr"/>
                  <a:r>
                    <a:rPr lang="en-US" sz="2200" b="1" dirty="0"/>
                    <a:t>DATA SOURCES</a:t>
                  </a:r>
                </a:p>
              </p:txBody>
            </p:sp>
            <p:grpSp>
              <p:nvGrpSpPr>
                <p:cNvPr id="50" name="Group 49">
                  <a:extLst>
                    <a:ext uri="{FF2B5EF4-FFF2-40B4-BE49-F238E27FC236}">
                      <a16:creationId xmlns:a16="http://schemas.microsoft.com/office/drawing/2014/main" id="{55D35892-41DD-7FEA-D161-B758E8442785}"/>
                    </a:ext>
                  </a:extLst>
                </p:cNvPr>
                <p:cNvGrpSpPr/>
                <p:nvPr/>
              </p:nvGrpSpPr>
              <p:grpSpPr>
                <a:xfrm>
                  <a:off x="173392" y="7556692"/>
                  <a:ext cx="787237" cy="1159885"/>
                  <a:chOff x="-2979625" y="8569655"/>
                  <a:chExt cx="776822" cy="1159885"/>
                </a:xfrm>
              </p:grpSpPr>
              <p:pic>
                <p:nvPicPr>
                  <p:cNvPr id="45" name="Picture 44" descr="A blue background with white text and a graphic design&#10;&#10;AI-generated content may be incorrect.">
                    <a:extLst>
                      <a:ext uri="{FF2B5EF4-FFF2-40B4-BE49-F238E27FC236}">
                        <a16:creationId xmlns:a16="http://schemas.microsoft.com/office/drawing/2014/main" id="{40205FDF-13DA-0983-6D99-8AE76439FB15}"/>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2979622" y="8916806"/>
                    <a:ext cx="776819" cy="394253"/>
                  </a:xfrm>
                  <a:prstGeom prst="rect">
                    <a:avLst/>
                  </a:prstGeom>
                </p:spPr>
              </p:pic>
              <p:pic>
                <p:nvPicPr>
                  <p:cNvPr id="46" name="Picture 45" descr="Justice and Mental Health Collaboration ...">
                    <a:extLst>
                      <a:ext uri="{FF2B5EF4-FFF2-40B4-BE49-F238E27FC236}">
                        <a16:creationId xmlns:a16="http://schemas.microsoft.com/office/drawing/2014/main" id="{4953F9B1-CAB7-09DD-3EDF-4061C631418F}"/>
                      </a:ext>
                    </a:extLst>
                  </p:cNvPr>
                  <p:cNvPicPr>
                    <a:picLocks noChangeAspect="1"/>
                  </p:cNvPicPr>
                  <p:nvPr/>
                </p:nvPicPr>
                <p:blipFill>
                  <a:blip r:embed="rId7"/>
                  <a:stretch>
                    <a:fillRect/>
                  </a:stretch>
                </p:blipFill>
                <p:spPr>
                  <a:xfrm>
                    <a:off x="-2979624" y="9335289"/>
                    <a:ext cx="776818" cy="394251"/>
                  </a:xfrm>
                  <a:prstGeom prst="rect">
                    <a:avLst/>
                  </a:prstGeom>
                </p:spPr>
              </p:pic>
              <p:pic>
                <p:nvPicPr>
                  <p:cNvPr id="48" name="Picture 47" descr="A black background with a black square&#10;&#10;AI-generated content may be incorrect.">
                    <a:extLst>
                      <a:ext uri="{FF2B5EF4-FFF2-40B4-BE49-F238E27FC236}">
                        <a16:creationId xmlns:a16="http://schemas.microsoft.com/office/drawing/2014/main" id="{D7CB6E2D-E5C9-55B0-C446-C178F0C5BA4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79625" y="8569655"/>
                    <a:ext cx="776818" cy="325013"/>
                  </a:xfrm>
                  <a:prstGeom prst="rect">
                    <a:avLst/>
                  </a:prstGeom>
                </p:spPr>
              </p:pic>
            </p:grpSp>
            <p:sp>
              <p:nvSpPr>
                <p:cNvPr id="49" name="TextBox 48">
                  <a:extLst>
                    <a:ext uri="{FF2B5EF4-FFF2-40B4-BE49-F238E27FC236}">
                      <a16:creationId xmlns:a16="http://schemas.microsoft.com/office/drawing/2014/main" id="{9C59645C-1B45-860C-AB0C-BC1BDD16B950}"/>
                    </a:ext>
                  </a:extLst>
                </p:cNvPr>
                <p:cNvSpPr txBox="1"/>
                <p:nvPr/>
              </p:nvSpPr>
              <p:spPr>
                <a:xfrm>
                  <a:off x="1149920" y="7011497"/>
                  <a:ext cx="9022442" cy="1837426"/>
                </a:xfrm>
                <a:prstGeom prst="rect">
                  <a:avLst/>
                </a:prstGeom>
                <a:noFill/>
              </p:spPr>
              <p:txBody>
                <a:bodyPr wrap="square" rtlCol="0">
                  <a:spAutoFit/>
                </a:bodyPr>
                <a:lstStyle/>
                <a:p>
                  <a:pPr algn="just">
                    <a:lnSpc>
                      <a:spcPct val="90000"/>
                    </a:lnSpc>
                  </a:pPr>
                  <a:r>
                    <a:rPr lang="en-US" sz="1750" dirty="0"/>
                    <a:t>We use the Third City Project national prison mortality database, which is made up of three critical sources:</a:t>
                  </a:r>
                </a:p>
                <a:p>
                  <a:pPr marL="285750" indent="-285750" algn="just">
                    <a:lnSpc>
                      <a:spcPct val="90000"/>
                    </a:lnSpc>
                    <a:buFont typeface="Arial" panose="020B0604020202020204" pitchFamily="34" charset="0"/>
                    <a:buChar char="•"/>
                  </a:pPr>
                  <a:r>
                    <a:rPr lang="en-US" sz="1750" b="1" dirty="0"/>
                    <a:t>State press releases</a:t>
                  </a:r>
                  <a:r>
                    <a:rPr lang="en-US" sz="1750" dirty="0"/>
                    <a:t>, manually entered via Qualtrics into the Third City Project database, capturing names, dates, death causes.</a:t>
                  </a:r>
                </a:p>
                <a:p>
                  <a:pPr marL="285750" indent="-285750" algn="just">
                    <a:lnSpc>
                      <a:spcPct val="90000"/>
                    </a:lnSpc>
                    <a:buFont typeface="Arial" panose="020B0604020202020204" pitchFamily="34" charset="0"/>
                    <a:buChar char="•"/>
                  </a:pPr>
                  <a:r>
                    <a:rPr lang="en-US" sz="1750" b="1" dirty="0"/>
                    <a:t>Bureau of Justice Statistics (BJS)</a:t>
                  </a:r>
                  <a:r>
                    <a:rPr lang="en-US" sz="1750" dirty="0"/>
                    <a:t> data, with standardized causes and demographics.</a:t>
                  </a:r>
                </a:p>
                <a:p>
                  <a:pPr marL="285750" indent="-285750" algn="just">
                    <a:lnSpc>
                      <a:spcPct val="90000"/>
                    </a:lnSpc>
                    <a:buFont typeface="Arial" panose="020B0604020202020204" pitchFamily="34" charset="0"/>
                    <a:buChar char="•"/>
                  </a:pPr>
                  <a:r>
                    <a:rPr lang="en-US" sz="1750" b="1" dirty="0"/>
                    <a:t>Bureau of Justice Assistance (BJA)</a:t>
                  </a:r>
                  <a:r>
                    <a:rPr lang="en-US" sz="1750" dirty="0"/>
                    <a:t> records from the Deaths in Custody Reporting Program (DCRA), with varying formats across states.</a:t>
                  </a:r>
                </a:p>
              </p:txBody>
            </p:sp>
            <p:sp>
              <p:nvSpPr>
                <p:cNvPr id="24" name="TextBox 23">
                  <a:extLst>
                    <a:ext uri="{FF2B5EF4-FFF2-40B4-BE49-F238E27FC236}">
                      <a16:creationId xmlns:a16="http://schemas.microsoft.com/office/drawing/2014/main" id="{8B9832BC-8DEA-654F-5699-A37F0FE520CD}"/>
                    </a:ext>
                  </a:extLst>
                </p:cNvPr>
                <p:cNvSpPr txBox="1"/>
                <p:nvPr/>
              </p:nvSpPr>
              <p:spPr>
                <a:xfrm>
                  <a:off x="173393" y="8790613"/>
                  <a:ext cx="9897674" cy="430887"/>
                </a:xfrm>
                <a:prstGeom prst="rect">
                  <a:avLst/>
                </a:prstGeom>
                <a:solidFill>
                  <a:schemeClr val="accent1"/>
                </a:solidFill>
              </p:spPr>
              <p:txBody>
                <a:bodyPr wrap="square" rtlCol="0">
                  <a:spAutoFit/>
                </a:bodyPr>
                <a:lstStyle/>
                <a:p>
                  <a:pPr algn="ctr"/>
                  <a:r>
                    <a:rPr lang="en-US" sz="2200" b="1" dirty="0"/>
                    <a:t>INTERACTIVE MAP</a:t>
                  </a:r>
                </a:p>
              </p:txBody>
            </p:sp>
            <p:sp>
              <p:nvSpPr>
                <p:cNvPr id="55" name="TextBox 54">
                  <a:extLst>
                    <a:ext uri="{FF2B5EF4-FFF2-40B4-BE49-F238E27FC236}">
                      <a16:creationId xmlns:a16="http://schemas.microsoft.com/office/drawing/2014/main" id="{D20D2B87-69A3-3566-BC11-002A7BECA1FF}"/>
                    </a:ext>
                  </a:extLst>
                </p:cNvPr>
                <p:cNvSpPr txBox="1"/>
                <p:nvPr/>
              </p:nvSpPr>
              <p:spPr>
                <a:xfrm>
                  <a:off x="94847" y="9220615"/>
                  <a:ext cx="10060854" cy="1601849"/>
                </a:xfrm>
                <a:prstGeom prst="rect">
                  <a:avLst/>
                </a:prstGeom>
                <a:noFill/>
              </p:spPr>
              <p:txBody>
                <a:bodyPr wrap="square" rtlCol="0">
                  <a:spAutoFit/>
                </a:bodyPr>
                <a:lstStyle/>
                <a:p>
                  <a:pPr algn="just">
                    <a:lnSpc>
                      <a:spcPct val="90000"/>
                    </a:lnSpc>
                  </a:pPr>
                  <a:r>
                    <a:rPr lang="en-US" sz="1200" b="1" dirty="0"/>
                    <a:t>Note:</a:t>
                  </a:r>
                  <a:r>
                    <a:rPr lang="en-US" sz="1200" dirty="0"/>
                    <a:t> The map was built using the BJS dataset from 2015 to 2019, as it provided more complete and standardized data compared to the BJA records.</a:t>
                  </a:r>
                </a:p>
                <a:p>
                  <a:pPr algn="just">
                    <a:lnSpc>
                      <a:spcPct val="90000"/>
                    </a:lnSpc>
                  </a:pPr>
                  <a:endParaRPr lang="en-US" sz="1000" dirty="0"/>
                </a:p>
                <a:p>
                  <a:pPr algn="just">
                    <a:lnSpc>
                      <a:spcPct val="90000"/>
                    </a:lnSpc>
                  </a:pPr>
                  <a:r>
                    <a:rPr lang="en-US" sz="1740" dirty="0"/>
                    <a:t>A central feature of this project is an interactive map visualizing prisoner deaths alongside other incarceration metrics across all states. Users can filter by year and state, with a color scale showing the number of deaths. Hovering over a state reveals two panels: </a:t>
                  </a:r>
                  <a:r>
                    <a:rPr lang="en-US" sz="1740" b="1" dirty="0"/>
                    <a:t>general population data</a:t>
                  </a:r>
                  <a:r>
                    <a:rPr lang="en-US" sz="1740" dirty="0"/>
                    <a:t> (age, gender, race) and </a:t>
                  </a:r>
                  <a:r>
                    <a:rPr lang="en-US" sz="1740" b="1" dirty="0"/>
                    <a:t>prison data</a:t>
                  </a:r>
                  <a:r>
                    <a:rPr lang="en-US" sz="1740" dirty="0"/>
                    <a:t>, including population, deaths, death rate, and imprisonment rate. This tool supports the Third City Project’s mission to provide stakeholders with comprehensive, easily accessible knowledge regarding prison health.</a:t>
                  </a:r>
                </a:p>
              </p:txBody>
            </p:sp>
            <p:pic>
              <p:nvPicPr>
                <p:cNvPr id="56" name="Picture 55">
                  <a:extLst>
                    <a:ext uri="{FF2B5EF4-FFF2-40B4-BE49-F238E27FC236}">
                      <a16:creationId xmlns:a16="http://schemas.microsoft.com/office/drawing/2014/main" id="{F27B0C1A-1705-B823-9CF7-448407C52673}"/>
                    </a:ext>
                  </a:extLst>
                </p:cNvPr>
                <p:cNvPicPr>
                  <a:picLocks noChangeAspect="1"/>
                </p:cNvPicPr>
                <p:nvPr/>
              </p:nvPicPr>
              <p:blipFill>
                <a:blip r:embed="rId9"/>
                <a:stretch>
                  <a:fillRect/>
                </a:stretch>
              </p:blipFill>
              <p:spPr>
                <a:xfrm>
                  <a:off x="173391" y="10792472"/>
                  <a:ext cx="9897674" cy="4764104"/>
                </a:xfrm>
                <a:prstGeom prst="rect">
                  <a:avLst/>
                </a:prstGeom>
              </p:spPr>
            </p:pic>
            <p:pic>
              <p:nvPicPr>
                <p:cNvPr id="57" name="Picture 56" descr="A blue background with white text&#10;&#10;AI-generated content may be incorrect.">
                  <a:extLst>
                    <a:ext uri="{FF2B5EF4-FFF2-40B4-BE49-F238E27FC236}">
                      <a16:creationId xmlns:a16="http://schemas.microsoft.com/office/drawing/2014/main" id="{99391988-FBBA-A8D6-01EB-A18BFB3E72E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3391" y="16136390"/>
                  <a:ext cx="1132047" cy="269088"/>
                </a:xfrm>
                <a:prstGeom prst="rect">
                  <a:avLst/>
                </a:prstGeom>
              </p:spPr>
            </p:pic>
            <p:sp>
              <p:nvSpPr>
                <p:cNvPr id="73" name="TextBox 72">
                  <a:extLst>
                    <a:ext uri="{FF2B5EF4-FFF2-40B4-BE49-F238E27FC236}">
                      <a16:creationId xmlns:a16="http://schemas.microsoft.com/office/drawing/2014/main" id="{14AB712A-74D7-F645-F94C-73BC7D379F19}"/>
                    </a:ext>
                  </a:extLst>
                </p:cNvPr>
                <p:cNvSpPr txBox="1"/>
                <p:nvPr/>
              </p:nvSpPr>
              <p:spPr>
                <a:xfrm>
                  <a:off x="1305438" y="15564280"/>
                  <a:ext cx="8850263" cy="933141"/>
                </a:xfrm>
                <a:prstGeom prst="rect">
                  <a:avLst/>
                </a:prstGeom>
                <a:noFill/>
              </p:spPr>
              <p:txBody>
                <a:bodyPr wrap="square" rtlCol="0">
                  <a:spAutoFit/>
                </a:bodyPr>
                <a:lstStyle/>
                <a:p>
                  <a:pPr algn="just"/>
                  <a:r>
                    <a:rPr lang="en-US" sz="1600" b="1" dirty="0">
                      <a:solidFill>
                        <a:schemeClr val="accent3"/>
                      </a:solidFill>
                    </a:rPr>
                    <a:t>References</a:t>
                  </a:r>
                </a:p>
                <a:p>
                  <a:pPr marL="228600" indent="-228600" algn="just">
                    <a:lnSpc>
                      <a:spcPct val="80000"/>
                    </a:lnSpc>
                    <a:buFont typeface="+mj-lt"/>
                    <a:buAutoNum type="arabicPeriod"/>
                  </a:pPr>
                  <a:r>
                    <a:rPr lang="en-US" sz="1200" dirty="0"/>
                    <a:t>United States. Bureau of Justice Statistics. National Prisoner Statistics, [United States], 1978-2022. Inter-university Consortium for Political and Social Research [distributor], 2024-01-10. </a:t>
                  </a:r>
                  <a:r>
                    <a:rPr lang="en-US" sz="1200" dirty="0">
                      <a:hlinkClick r:id="rId11"/>
                    </a:rPr>
                    <a:t>https://doi.org/10.3886/ICPSR38871.v1</a:t>
                  </a:r>
                  <a:r>
                    <a:rPr lang="en-US" sz="1200" dirty="0"/>
                    <a:t> </a:t>
                  </a:r>
                </a:p>
                <a:p>
                  <a:pPr marL="228600" indent="-228600" algn="just">
                    <a:lnSpc>
                      <a:spcPct val="80000"/>
                    </a:lnSpc>
                    <a:buFont typeface="+mj-lt"/>
                    <a:buAutoNum type="arabicPeriod"/>
                  </a:pPr>
                  <a:r>
                    <a:rPr lang="en-US" sz="1200" dirty="0"/>
                    <a:t>United States. Prison Policy Initiative. </a:t>
                  </a:r>
                  <a:r>
                    <a:rPr lang="en-US" sz="1200" i="1" dirty="0"/>
                    <a:t>Appendix: State and federal prison populations 2019-2023 and sources</a:t>
                  </a:r>
                  <a:r>
                    <a:rPr lang="en-US" sz="1200" dirty="0"/>
                    <a:t>. Prison Policy Initiative [distributor], n.d. </a:t>
                  </a:r>
                  <a:r>
                    <a:rPr lang="en-US" sz="1200" dirty="0">
                      <a:hlinkClick r:id="rId12"/>
                    </a:rPr>
                    <a:t>https://www.prisonpolicy.org/data/prison_pops_2019_2023_sources.html</a:t>
                  </a:r>
                  <a:endParaRPr lang="en-US" sz="1200" dirty="0"/>
                </a:p>
              </p:txBody>
            </p:sp>
          </p:grpSp>
          <p:grpSp>
            <p:nvGrpSpPr>
              <p:cNvPr id="99" name="Group 98">
                <a:extLst>
                  <a:ext uri="{FF2B5EF4-FFF2-40B4-BE49-F238E27FC236}">
                    <a16:creationId xmlns:a16="http://schemas.microsoft.com/office/drawing/2014/main" id="{B68609EC-8D65-1442-2324-3683D2C2E1A1}"/>
                  </a:ext>
                </a:extLst>
              </p:cNvPr>
              <p:cNvGrpSpPr/>
              <p:nvPr/>
            </p:nvGrpSpPr>
            <p:grpSpPr>
              <a:xfrm>
                <a:off x="10447638" y="1154127"/>
                <a:ext cx="8672580" cy="15229951"/>
                <a:chOff x="10447638" y="1154127"/>
                <a:chExt cx="8672580" cy="15229951"/>
              </a:xfrm>
            </p:grpSpPr>
            <p:pic>
              <p:nvPicPr>
                <p:cNvPr id="70" name="Picture 69" descr="A close up of a logo&#10;&#10;AI-generated content may be incorrect.">
                  <a:extLst>
                    <a:ext uri="{FF2B5EF4-FFF2-40B4-BE49-F238E27FC236}">
                      <a16:creationId xmlns:a16="http://schemas.microsoft.com/office/drawing/2014/main" id="{7D64502E-50CD-98ED-9DE4-B60BDA1B5FCA}"/>
                    </a:ext>
                  </a:extLst>
                </p:cNvPr>
                <p:cNvPicPr>
                  <a:picLocks noChangeAspect="1"/>
                </p:cNvPicPr>
                <p:nvPr/>
              </p:nvPicPr>
              <p:blipFill>
                <a:blip r:embed="rId13"/>
                <a:stretch>
                  <a:fillRect/>
                </a:stretch>
              </p:blipFill>
              <p:spPr>
                <a:xfrm>
                  <a:off x="18334143" y="15676547"/>
                  <a:ext cx="707531" cy="707531"/>
                </a:xfrm>
                <a:prstGeom prst="rect">
                  <a:avLst/>
                </a:prstGeom>
              </p:spPr>
            </p:pic>
            <p:grpSp>
              <p:nvGrpSpPr>
                <p:cNvPr id="98" name="Group 97">
                  <a:extLst>
                    <a:ext uri="{FF2B5EF4-FFF2-40B4-BE49-F238E27FC236}">
                      <a16:creationId xmlns:a16="http://schemas.microsoft.com/office/drawing/2014/main" id="{7E8652D5-7C5E-3B8A-9BC3-E27323ADB23C}"/>
                    </a:ext>
                  </a:extLst>
                </p:cNvPr>
                <p:cNvGrpSpPr/>
                <p:nvPr/>
              </p:nvGrpSpPr>
              <p:grpSpPr>
                <a:xfrm>
                  <a:off x="10447638" y="1154127"/>
                  <a:ext cx="8672580" cy="15126533"/>
                  <a:chOff x="10447638" y="1154127"/>
                  <a:chExt cx="8672580" cy="15126533"/>
                </a:xfrm>
              </p:grpSpPr>
              <p:sp>
                <p:nvSpPr>
                  <p:cNvPr id="23" name="TextBox 22">
                    <a:extLst>
                      <a:ext uri="{FF2B5EF4-FFF2-40B4-BE49-F238E27FC236}">
                        <a16:creationId xmlns:a16="http://schemas.microsoft.com/office/drawing/2014/main" id="{23E58397-7911-1379-C62D-D183D9B23C60}"/>
                      </a:ext>
                    </a:extLst>
                  </p:cNvPr>
                  <p:cNvSpPr txBox="1"/>
                  <p:nvPr/>
                </p:nvSpPr>
                <p:spPr>
                  <a:xfrm>
                    <a:off x="10521162" y="1154127"/>
                    <a:ext cx="8456952" cy="430887"/>
                  </a:xfrm>
                  <a:prstGeom prst="rect">
                    <a:avLst/>
                  </a:prstGeom>
                  <a:solidFill>
                    <a:schemeClr val="accent1"/>
                  </a:solidFill>
                </p:spPr>
                <p:txBody>
                  <a:bodyPr wrap="square" rtlCol="0">
                    <a:spAutoFit/>
                  </a:bodyPr>
                  <a:lstStyle/>
                  <a:p>
                    <a:pPr algn="ctr"/>
                    <a:r>
                      <a:rPr lang="en-US" sz="2200" b="1" dirty="0"/>
                      <a:t>EXPLORATORY DATA ANALYSIS</a:t>
                    </a:r>
                  </a:p>
                </p:txBody>
              </p:sp>
              <p:sp>
                <p:nvSpPr>
                  <p:cNvPr id="25" name="TextBox 24">
                    <a:extLst>
                      <a:ext uri="{FF2B5EF4-FFF2-40B4-BE49-F238E27FC236}">
                        <a16:creationId xmlns:a16="http://schemas.microsoft.com/office/drawing/2014/main" id="{D1421B70-D479-2DD6-E933-9C99EEBF44F5}"/>
                      </a:ext>
                    </a:extLst>
                  </p:cNvPr>
                  <p:cNvSpPr txBox="1"/>
                  <p:nvPr/>
                </p:nvSpPr>
                <p:spPr>
                  <a:xfrm>
                    <a:off x="10514232" y="14584230"/>
                    <a:ext cx="1126549" cy="769441"/>
                  </a:xfrm>
                  <a:prstGeom prst="rect">
                    <a:avLst/>
                  </a:prstGeom>
                  <a:solidFill>
                    <a:schemeClr val="accent1"/>
                  </a:solidFill>
                </p:spPr>
                <p:txBody>
                  <a:bodyPr wrap="square" rtlCol="0">
                    <a:spAutoFit/>
                  </a:bodyPr>
                  <a:lstStyle/>
                  <a:p>
                    <a:pPr algn="ctr"/>
                    <a:r>
                      <a:rPr lang="en-US" sz="2200" b="1" dirty="0"/>
                      <a:t>FUTURE WORK</a:t>
                    </a:r>
                  </a:p>
                </p:txBody>
              </p:sp>
              <p:pic>
                <p:nvPicPr>
                  <p:cNvPr id="11" name="Picture 10">
                    <a:extLst>
                      <a:ext uri="{FF2B5EF4-FFF2-40B4-BE49-F238E27FC236}">
                        <a16:creationId xmlns:a16="http://schemas.microsoft.com/office/drawing/2014/main" id="{269719B9-FA1E-ADF4-C2E3-EC3792EEFFDB}"/>
                      </a:ext>
                    </a:extLst>
                  </p:cNvPr>
                  <p:cNvPicPr>
                    <a:picLocks noChangeAspect="1"/>
                  </p:cNvPicPr>
                  <p:nvPr/>
                </p:nvPicPr>
                <p:blipFill>
                  <a:blip r:embed="rId14"/>
                  <a:stretch>
                    <a:fillRect/>
                  </a:stretch>
                </p:blipFill>
                <p:spPr>
                  <a:xfrm>
                    <a:off x="16207992" y="1730936"/>
                    <a:ext cx="2770122" cy="1765168"/>
                  </a:xfrm>
                  <a:prstGeom prst="rect">
                    <a:avLst/>
                  </a:prstGeom>
                </p:spPr>
              </p:pic>
              <p:pic>
                <p:nvPicPr>
                  <p:cNvPr id="15" name="Picture 14">
                    <a:extLst>
                      <a:ext uri="{FF2B5EF4-FFF2-40B4-BE49-F238E27FC236}">
                        <a16:creationId xmlns:a16="http://schemas.microsoft.com/office/drawing/2014/main" id="{93142E8A-FEB1-2E15-16F3-B63F9FCC59D7}"/>
                      </a:ext>
                    </a:extLst>
                  </p:cNvPr>
                  <p:cNvPicPr>
                    <a:picLocks noChangeAspect="1"/>
                  </p:cNvPicPr>
                  <p:nvPr/>
                </p:nvPicPr>
                <p:blipFill>
                  <a:blip r:embed="rId15"/>
                  <a:stretch>
                    <a:fillRect/>
                  </a:stretch>
                </p:blipFill>
                <p:spPr>
                  <a:xfrm>
                    <a:off x="10521161" y="3419381"/>
                    <a:ext cx="2239240" cy="1345634"/>
                  </a:xfrm>
                  <a:prstGeom prst="rect">
                    <a:avLst/>
                  </a:prstGeom>
                </p:spPr>
              </p:pic>
              <p:pic>
                <p:nvPicPr>
                  <p:cNvPr id="29" name="Picture 28">
                    <a:extLst>
                      <a:ext uri="{FF2B5EF4-FFF2-40B4-BE49-F238E27FC236}">
                        <a16:creationId xmlns:a16="http://schemas.microsoft.com/office/drawing/2014/main" id="{0E5C1F20-BC6D-59BB-FC62-922809CFA70B}"/>
                      </a:ext>
                    </a:extLst>
                  </p:cNvPr>
                  <p:cNvPicPr>
                    <a:picLocks noChangeAspect="1"/>
                  </p:cNvPicPr>
                  <p:nvPr/>
                </p:nvPicPr>
                <p:blipFill>
                  <a:blip r:embed="rId16"/>
                  <a:stretch>
                    <a:fillRect/>
                  </a:stretch>
                </p:blipFill>
                <p:spPr>
                  <a:xfrm>
                    <a:off x="15334327" y="6333861"/>
                    <a:ext cx="3206667" cy="1312432"/>
                  </a:xfrm>
                  <a:prstGeom prst="rect">
                    <a:avLst/>
                  </a:prstGeom>
                </p:spPr>
              </p:pic>
              <p:pic>
                <p:nvPicPr>
                  <p:cNvPr id="31" name="Picture 30">
                    <a:extLst>
                      <a:ext uri="{FF2B5EF4-FFF2-40B4-BE49-F238E27FC236}">
                        <a16:creationId xmlns:a16="http://schemas.microsoft.com/office/drawing/2014/main" id="{8EB9E124-EE82-0C02-AE9B-43258E11A655}"/>
                      </a:ext>
                    </a:extLst>
                  </p:cNvPr>
                  <p:cNvPicPr>
                    <a:picLocks noChangeAspect="1"/>
                  </p:cNvPicPr>
                  <p:nvPr/>
                </p:nvPicPr>
                <p:blipFill>
                  <a:blip r:embed="rId17"/>
                  <a:stretch>
                    <a:fillRect/>
                  </a:stretch>
                </p:blipFill>
                <p:spPr>
                  <a:xfrm>
                    <a:off x="11119767" y="6333861"/>
                    <a:ext cx="3354945" cy="1319467"/>
                  </a:xfrm>
                  <a:prstGeom prst="rect">
                    <a:avLst/>
                  </a:prstGeom>
                </p:spPr>
              </p:pic>
              <p:pic>
                <p:nvPicPr>
                  <p:cNvPr id="34" name="Picture 33">
                    <a:extLst>
                      <a:ext uri="{FF2B5EF4-FFF2-40B4-BE49-F238E27FC236}">
                        <a16:creationId xmlns:a16="http://schemas.microsoft.com/office/drawing/2014/main" id="{317877CA-5644-3F78-7D47-F0805EDDE29E}"/>
                      </a:ext>
                    </a:extLst>
                  </p:cNvPr>
                  <p:cNvPicPr>
                    <a:picLocks noChangeAspect="1"/>
                  </p:cNvPicPr>
                  <p:nvPr/>
                </p:nvPicPr>
                <p:blipFill>
                  <a:blip r:embed="rId18"/>
                  <a:stretch>
                    <a:fillRect/>
                  </a:stretch>
                </p:blipFill>
                <p:spPr>
                  <a:xfrm>
                    <a:off x="10537822" y="8386457"/>
                    <a:ext cx="2659417" cy="1481635"/>
                  </a:xfrm>
                  <a:prstGeom prst="rect">
                    <a:avLst/>
                  </a:prstGeom>
                </p:spPr>
              </p:pic>
              <p:pic>
                <p:nvPicPr>
                  <p:cNvPr id="35" name="Picture 34">
                    <a:extLst>
                      <a:ext uri="{FF2B5EF4-FFF2-40B4-BE49-F238E27FC236}">
                        <a16:creationId xmlns:a16="http://schemas.microsoft.com/office/drawing/2014/main" id="{E0C7496C-6CC8-19D1-C20B-B4B13229D299}"/>
                      </a:ext>
                    </a:extLst>
                  </p:cNvPr>
                  <p:cNvPicPr>
                    <a:picLocks noChangeAspect="1"/>
                  </p:cNvPicPr>
                  <p:nvPr/>
                </p:nvPicPr>
                <p:blipFill>
                  <a:blip r:embed="rId19"/>
                  <a:stretch>
                    <a:fillRect/>
                  </a:stretch>
                </p:blipFill>
                <p:spPr>
                  <a:xfrm>
                    <a:off x="13548573" y="8382151"/>
                    <a:ext cx="2659418" cy="1481635"/>
                  </a:xfrm>
                  <a:prstGeom prst="rect">
                    <a:avLst/>
                  </a:prstGeom>
                </p:spPr>
              </p:pic>
              <p:pic>
                <p:nvPicPr>
                  <p:cNvPr id="36" name="Picture 35">
                    <a:extLst>
                      <a:ext uri="{FF2B5EF4-FFF2-40B4-BE49-F238E27FC236}">
                        <a16:creationId xmlns:a16="http://schemas.microsoft.com/office/drawing/2014/main" id="{BAFFEDEB-9D05-3BC5-1C02-9E401D8DAD54}"/>
                      </a:ext>
                    </a:extLst>
                  </p:cNvPr>
                  <p:cNvPicPr>
                    <a:picLocks noChangeAspect="1"/>
                  </p:cNvPicPr>
                  <p:nvPr/>
                </p:nvPicPr>
                <p:blipFill>
                  <a:blip r:embed="rId20"/>
                  <a:stretch>
                    <a:fillRect/>
                  </a:stretch>
                </p:blipFill>
                <p:spPr>
                  <a:xfrm>
                    <a:off x="16542090" y="8387337"/>
                    <a:ext cx="2436023" cy="1481635"/>
                  </a:xfrm>
                  <a:prstGeom prst="rect">
                    <a:avLst/>
                  </a:prstGeom>
                </p:spPr>
              </p:pic>
              <p:sp>
                <p:nvSpPr>
                  <p:cNvPr id="37" name="TextBox 36">
                    <a:extLst>
                      <a:ext uri="{FF2B5EF4-FFF2-40B4-BE49-F238E27FC236}">
                        <a16:creationId xmlns:a16="http://schemas.microsoft.com/office/drawing/2014/main" id="{A03B6F07-A8F9-AC76-31E9-7D8D900A2A6A}"/>
                      </a:ext>
                    </a:extLst>
                  </p:cNvPr>
                  <p:cNvSpPr txBox="1"/>
                  <p:nvPr/>
                </p:nvSpPr>
                <p:spPr>
                  <a:xfrm>
                    <a:off x="10447639" y="1590372"/>
                    <a:ext cx="5760352" cy="1920526"/>
                  </a:xfrm>
                  <a:prstGeom prst="rect">
                    <a:avLst/>
                  </a:prstGeom>
                  <a:noFill/>
                </p:spPr>
                <p:txBody>
                  <a:bodyPr wrap="square" rtlCol="0">
                    <a:spAutoFit/>
                  </a:bodyPr>
                  <a:lstStyle/>
                  <a:p>
                    <a:pPr algn="just">
                      <a:lnSpc>
                        <a:spcPct val="90000"/>
                      </a:lnSpc>
                    </a:pPr>
                    <a:r>
                      <a:rPr lang="en-US" sz="1200" b="1" dirty="0"/>
                      <a:t>Note: </a:t>
                    </a:r>
                    <a:r>
                      <a:rPr lang="en-US" sz="1200" dirty="0"/>
                      <a:t>The analysis below is based on BJA records from 2020 to 2023</a:t>
                    </a:r>
                  </a:p>
                  <a:p>
                    <a:pPr algn="just">
                      <a:lnSpc>
                        <a:spcPct val="90000"/>
                      </a:lnSpc>
                    </a:pPr>
                    <a:endParaRPr lang="en-US" sz="1000" dirty="0"/>
                  </a:p>
                  <a:p>
                    <a:pPr algn="just">
                      <a:lnSpc>
                        <a:spcPct val="90000"/>
                      </a:lnSpc>
                    </a:pPr>
                    <a:r>
                      <a:rPr lang="en-US" sz="2000" b="1" dirty="0"/>
                      <a:t>📊 Prison Death Trends and State-Level Distribution</a:t>
                    </a:r>
                  </a:p>
                  <a:p>
                    <a:pPr algn="just">
                      <a:lnSpc>
                        <a:spcPct val="90000"/>
                      </a:lnSpc>
                    </a:pPr>
                    <a:r>
                      <a:rPr lang="en-US" sz="1750" dirty="0"/>
                      <a:t>Prison deaths spiked after 2020, likely due to </a:t>
                    </a:r>
                    <a:r>
                      <a:rPr lang="en-US" sz="1750" b="1" dirty="0"/>
                      <a:t>COVID-19</a:t>
                    </a:r>
                    <a:r>
                      <a:rPr lang="en-US" sz="1750" dirty="0"/>
                      <a:t> and limited access to medical care. Counts dipped in 2022, then rose again in 2023. These shifts may reflect reporting delays more than real declines. Overall, the trend shows a sustained increase that calls for closer investigation.</a:t>
                    </a:r>
                  </a:p>
                </p:txBody>
              </p:sp>
              <p:sp>
                <p:nvSpPr>
                  <p:cNvPr id="5" name="TextBox 4">
                    <a:extLst>
                      <a:ext uri="{FF2B5EF4-FFF2-40B4-BE49-F238E27FC236}">
                        <a16:creationId xmlns:a16="http://schemas.microsoft.com/office/drawing/2014/main" id="{813D50C3-0B6D-4321-4EDD-ED80A00ECEF7}"/>
                      </a:ext>
                    </a:extLst>
                  </p:cNvPr>
                  <p:cNvSpPr txBox="1"/>
                  <p:nvPr/>
                </p:nvSpPr>
                <p:spPr>
                  <a:xfrm>
                    <a:off x="10521162" y="9921799"/>
                    <a:ext cx="8456951" cy="430887"/>
                  </a:xfrm>
                  <a:prstGeom prst="rect">
                    <a:avLst/>
                  </a:prstGeom>
                  <a:solidFill>
                    <a:schemeClr val="accent1"/>
                  </a:solidFill>
                </p:spPr>
                <p:txBody>
                  <a:bodyPr wrap="square" rtlCol="0">
                    <a:spAutoFit/>
                  </a:bodyPr>
                  <a:lstStyle/>
                  <a:p>
                    <a:pPr algn="ctr"/>
                    <a:r>
                      <a:rPr lang="en-US" sz="2200" b="1" dirty="0"/>
                      <a:t>INTERACTIVE MAP OVERVIEW</a:t>
                    </a:r>
                  </a:p>
                </p:txBody>
              </p:sp>
              <p:sp>
                <p:nvSpPr>
                  <p:cNvPr id="67" name="TextBox 66">
                    <a:extLst>
                      <a:ext uri="{FF2B5EF4-FFF2-40B4-BE49-F238E27FC236}">
                        <a16:creationId xmlns:a16="http://schemas.microsoft.com/office/drawing/2014/main" id="{7BA3ABD8-9A73-F33D-83C3-15AB5D575EE8}"/>
                      </a:ext>
                    </a:extLst>
                  </p:cNvPr>
                  <p:cNvSpPr txBox="1"/>
                  <p:nvPr/>
                </p:nvSpPr>
                <p:spPr>
                  <a:xfrm>
                    <a:off x="10455993" y="4765187"/>
                    <a:ext cx="8585682" cy="1581202"/>
                  </a:xfrm>
                  <a:prstGeom prst="rect">
                    <a:avLst/>
                  </a:prstGeom>
                  <a:noFill/>
                </p:spPr>
                <p:txBody>
                  <a:bodyPr wrap="square" rtlCol="0">
                    <a:spAutoFit/>
                  </a:bodyPr>
                  <a:lstStyle/>
                  <a:p>
                    <a:pPr algn="just">
                      <a:lnSpc>
                        <a:spcPct val="90000"/>
                      </a:lnSpc>
                    </a:pPr>
                    <a:r>
                      <a:rPr lang="en-US" sz="2000" b="1" dirty="0"/>
                      <a:t>📊 Racial and Gender Disparities in Prison Mortality</a:t>
                    </a:r>
                  </a:p>
                  <a:p>
                    <a:pPr algn="just">
                      <a:lnSpc>
                        <a:spcPct val="90000"/>
                      </a:lnSpc>
                    </a:pPr>
                    <a:r>
                      <a:rPr lang="en-US" sz="1750" dirty="0"/>
                      <a:t>Deaths were highest among White (14,000) and Black (8,000) prisoners overall. Most prison deaths occurred among men, reflecting their larger share of the incarcerated population.</a:t>
                    </a:r>
                    <a:r>
                      <a:rPr lang="en-US" sz="1750" b="1" dirty="0"/>
                      <a:t> </a:t>
                    </a:r>
                    <a:r>
                      <a:rPr lang="en-US" sz="1750" dirty="0"/>
                      <a:t>Over 70% were non-Hispanic, though </a:t>
                    </a:r>
                    <a:r>
                      <a:rPr lang="en-US" sz="1750" b="1" dirty="0"/>
                      <a:t>20% lacked ethnicity data</a:t>
                    </a:r>
                    <a:r>
                      <a:rPr lang="en-US" sz="1750" dirty="0"/>
                      <a:t>. These gaps reflect differences in incarceration, care access, and prison conditions, highlighting the need for better demographic reporting.</a:t>
                    </a:r>
                  </a:p>
                </p:txBody>
              </p:sp>
              <p:sp>
                <p:nvSpPr>
                  <p:cNvPr id="68" name="TextBox 67">
                    <a:extLst>
                      <a:ext uri="{FF2B5EF4-FFF2-40B4-BE49-F238E27FC236}">
                        <a16:creationId xmlns:a16="http://schemas.microsoft.com/office/drawing/2014/main" id="{0D01925D-5C0F-4CAE-9DC5-7D4D4E256166}"/>
                      </a:ext>
                    </a:extLst>
                  </p:cNvPr>
                  <p:cNvSpPr txBox="1"/>
                  <p:nvPr/>
                </p:nvSpPr>
                <p:spPr>
                  <a:xfrm>
                    <a:off x="12760402" y="3552622"/>
                    <a:ext cx="6281272" cy="1089529"/>
                  </a:xfrm>
                  <a:prstGeom prst="rect">
                    <a:avLst/>
                  </a:prstGeom>
                  <a:noFill/>
                </p:spPr>
                <p:txBody>
                  <a:bodyPr wrap="square" rtlCol="0">
                    <a:spAutoFit/>
                  </a:bodyPr>
                  <a:lstStyle/>
                  <a:p>
                    <a:pPr algn="just">
                      <a:lnSpc>
                        <a:spcPct val="90000"/>
                      </a:lnSpc>
                    </a:pPr>
                    <a:r>
                      <a:rPr lang="en-US" sz="1750" dirty="0"/>
                      <a:t>Over 50% of prison deaths come from just 10 states, led by </a:t>
                    </a:r>
                    <a:r>
                      <a:rPr lang="en-US" sz="1750" b="1" dirty="0"/>
                      <a:t>Texas</a:t>
                    </a:r>
                    <a:r>
                      <a:rPr lang="en-US" sz="1750" dirty="0"/>
                      <a:t>, </a:t>
                    </a:r>
                    <a:r>
                      <a:rPr lang="en-US" sz="1750" b="1" dirty="0"/>
                      <a:t>California</a:t>
                    </a:r>
                    <a:r>
                      <a:rPr lang="en-US" sz="1750" dirty="0"/>
                      <a:t>, and </a:t>
                    </a:r>
                    <a:r>
                      <a:rPr lang="en-US" sz="1750" b="1" dirty="0"/>
                      <a:t>Florida</a:t>
                    </a:r>
                    <a:r>
                      <a:rPr lang="en-US" sz="1750" dirty="0"/>
                      <a:t>. This reflects their large overall and prison populations, but also reveals disproportionate regional gaps in incarceration-related mortality across the U.S.</a:t>
                    </a:r>
                  </a:p>
                </p:txBody>
              </p:sp>
              <p:sp>
                <p:nvSpPr>
                  <p:cNvPr id="69" name="TextBox 68">
                    <a:extLst>
                      <a:ext uri="{FF2B5EF4-FFF2-40B4-BE49-F238E27FC236}">
                        <a16:creationId xmlns:a16="http://schemas.microsoft.com/office/drawing/2014/main" id="{BB4445BD-526E-3550-F082-DD739F1A78C3}"/>
                      </a:ext>
                    </a:extLst>
                  </p:cNvPr>
                  <p:cNvSpPr txBox="1"/>
                  <p:nvPr/>
                </p:nvSpPr>
                <p:spPr>
                  <a:xfrm>
                    <a:off x="10447639" y="7514049"/>
                    <a:ext cx="8614569" cy="867930"/>
                  </a:xfrm>
                  <a:prstGeom prst="rect">
                    <a:avLst/>
                  </a:prstGeom>
                  <a:noFill/>
                </p:spPr>
                <p:txBody>
                  <a:bodyPr wrap="square" rtlCol="0">
                    <a:spAutoFit/>
                  </a:bodyPr>
                  <a:lstStyle/>
                  <a:p>
                    <a:pPr algn="just">
                      <a:lnSpc>
                        <a:spcPct val="90000"/>
                      </a:lnSpc>
                    </a:pPr>
                    <a:r>
                      <a:rPr lang="en-US" sz="2000" b="1" dirty="0"/>
                      <a:t>📊 Prison Mortality Snapshot</a:t>
                    </a:r>
                  </a:p>
                  <a:p>
                    <a:pPr algn="just">
                      <a:lnSpc>
                        <a:spcPct val="90000"/>
                      </a:lnSpc>
                    </a:pPr>
                    <a:r>
                      <a:rPr lang="en-US" sz="1750" dirty="0"/>
                      <a:t>Most deaths are from </a:t>
                    </a:r>
                    <a:r>
                      <a:rPr lang="en-US" sz="1750" b="1" dirty="0"/>
                      <a:t>natural causes</a:t>
                    </a:r>
                    <a:r>
                      <a:rPr lang="en-US" sz="1750" dirty="0"/>
                      <a:t>, in </a:t>
                    </a:r>
                    <a:r>
                      <a:rPr lang="en-US" sz="1750" b="1" dirty="0"/>
                      <a:t>older prisoners</a:t>
                    </a:r>
                    <a:r>
                      <a:rPr lang="en-US" sz="1750" dirty="0"/>
                      <a:t>, and inside </a:t>
                    </a:r>
                    <a:r>
                      <a:rPr lang="en-US" sz="1750" b="1" dirty="0"/>
                      <a:t>state prisons </a:t>
                    </a:r>
                    <a:r>
                      <a:rPr lang="en-US" sz="1750" dirty="0"/>
                      <a:t>– pointing to chronic illness and poor access to care as primary drivers.</a:t>
                    </a:r>
                  </a:p>
                </p:txBody>
              </p:sp>
              <p:pic>
                <p:nvPicPr>
                  <p:cNvPr id="71" name="Picture 70">
                    <a:extLst>
                      <a:ext uri="{FF2B5EF4-FFF2-40B4-BE49-F238E27FC236}">
                        <a16:creationId xmlns:a16="http://schemas.microsoft.com/office/drawing/2014/main" id="{8A393C2F-E727-BA8A-63B2-CE2BDBEB9D0D}"/>
                      </a:ext>
                    </a:extLst>
                  </p:cNvPr>
                  <p:cNvPicPr>
                    <a:picLocks noChangeAspect="1"/>
                  </p:cNvPicPr>
                  <p:nvPr/>
                </p:nvPicPr>
                <p:blipFill>
                  <a:blip r:embed="rId21"/>
                  <a:stretch>
                    <a:fillRect/>
                  </a:stretch>
                </p:blipFill>
                <p:spPr>
                  <a:xfrm>
                    <a:off x="10521161" y="10385553"/>
                    <a:ext cx="4164556" cy="2431463"/>
                  </a:xfrm>
                  <a:prstGeom prst="rect">
                    <a:avLst/>
                  </a:prstGeom>
                </p:spPr>
              </p:pic>
              <p:pic>
                <p:nvPicPr>
                  <p:cNvPr id="72" name="Picture 71">
                    <a:extLst>
                      <a:ext uri="{FF2B5EF4-FFF2-40B4-BE49-F238E27FC236}">
                        <a16:creationId xmlns:a16="http://schemas.microsoft.com/office/drawing/2014/main" id="{DF00D073-98EA-1C49-2EFC-058EE726F842}"/>
                      </a:ext>
                    </a:extLst>
                  </p:cNvPr>
                  <p:cNvPicPr>
                    <a:picLocks noChangeAspect="1"/>
                  </p:cNvPicPr>
                  <p:nvPr/>
                </p:nvPicPr>
                <p:blipFill>
                  <a:blip r:embed="rId22"/>
                  <a:stretch>
                    <a:fillRect/>
                  </a:stretch>
                </p:blipFill>
                <p:spPr>
                  <a:xfrm>
                    <a:off x="14845662" y="10385552"/>
                    <a:ext cx="4164556" cy="2431463"/>
                  </a:xfrm>
                  <a:prstGeom prst="rect">
                    <a:avLst/>
                  </a:prstGeom>
                </p:spPr>
              </p:pic>
              <p:sp>
                <p:nvSpPr>
                  <p:cNvPr id="74" name="TextBox 73">
                    <a:extLst>
                      <a:ext uri="{FF2B5EF4-FFF2-40B4-BE49-F238E27FC236}">
                        <a16:creationId xmlns:a16="http://schemas.microsoft.com/office/drawing/2014/main" id="{796F2F09-8810-7B8B-21BB-35FC7CDC9046}"/>
                      </a:ext>
                    </a:extLst>
                  </p:cNvPr>
                  <p:cNvSpPr txBox="1"/>
                  <p:nvPr/>
                </p:nvSpPr>
                <p:spPr>
                  <a:xfrm>
                    <a:off x="10447639" y="15572774"/>
                    <a:ext cx="7060872" cy="707886"/>
                  </a:xfrm>
                  <a:prstGeom prst="rect">
                    <a:avLst/>
                  </a:prstGeom>
                  <a:noFill/>
                </p:spPr>
                <p:txBody>
                  <a:bodyPr wrap="square" rtlCol="0">
                    <a:spAutoFit/>
                  </a:bodyPr>
                  <a:lstStyle/>
                  <a:p>
                    <a:pPr algn="just"/>
                    <a:r>
                      <a:rPr lang="en-US" sz="1600" b="1" dirty="0">
                        <a:solidFill>
                          <a:schemeClr val="accent3"/>
                        </a:solidFill>
                      </a:rPr>
                      <a:t>Acknowledgements</a:t>
                    </a:r>
                    <a:endParaRPr lang="en-US" b="1" dirty="0">
                      <a:solidFill>
                        <a:schemeClr val="accent3"/>
                      </a:solidFill>
                    </a:endParaRPr>
                  </a:p>
                  <a:p>
                    <a:pPr algn="just"/>
                    <a:r>
                      <a:rPr lang="en-US" sz="1200" b="1" dirty="0"/>
                      <a:t>Thank you to David Cloud, Lauren Brinkley-Rubinstein and Abdul Wasai for their guidance and support throughout the project!</a:t>
                    </a:r>
                  </a:p>
                </p:txBody>
              </p:sp>
              <p:sp>
                <p:nvSpPr>
                  <p:cNvPr id="79" name="TextBox 78">
                    <a:extLst>
                      <a:ext uri="{FF2B5EF4-FFF2-40B4-BE49-F238E27FC236}">
                        <a16:creationId xmlns:a16="http://schemas.microsoft.com/office/drawing/2014/main" id="{F94EF282-D50A-4AE5-2048-00A82F09A55D}"/>
                      </a:ext>
                    </a:extLst>
                  </p:cNvPr>
                  <p:cNvSpPr txBox="1"/>
                  <p:nvPr/>
                </p:nvSpPr>
                <p:spPr>
                  <a:xfrm>
                    <a:off x="10447638" y="12821494"/>
                    <a:ext cx="8654640" cy="1304203"/>
                  </a:xfrm>
                  <a:prstGeom prst="rect">
                    <a:avLst/>
                  </a:prstGeom>
                  <a:noFill/>
                </p:spPr>
                <p:txBody>
                  <a:bodyPr wrap="square" rtlCol="0">
                    <a:spAutoFit/>
                  </a:bodyPr>
                  <a:lstStyle/>
                  <a:p>
                    <a:pPr algn="just">
                      <a:lnSpc>
                        <a:spcPct val="90000"/>
                      </a:lnSpc>
                    </a:pPr>
                    <a:r>
                      <a:rPr lang="en-US" sz="1750" dirty="0"/>
                      <a:t>Based on the interactive map, 2019 data shows that Texas, California, and Florida lead in total prison population and deaths. But Louisiana, Mississippi, and Oklahoma have the highest incarceration rates, while Alabama, Vermont, and Arkansas have the highest death rates per 10,000 prisoners. This shows how </a:t>
                    </a:r>
                    <a:r>
                      <a:rPr lang="en-US" sz="1750" b="1" dirty="0"/>
                      <a:t>smaller states may look worse by rate</a:t>
                    </a:r>
                    <a:r>
                      <a:rPr lang="en-US" sz="1750" dirty="0"/>
                      <a:t>, underscoring the value of population-based comparisons for revealing system-level disparities.</a:t>
                    </a:r>
                  </a:p>
                </p:txBody>
              </p:sp>
              <p:cxnSp>
                <p:nvCxnSpPr>
                  <p:cNvPr id="81" name="Straight Connector 80">
                    <a:extLst>
                      <a:ext uri="{FF2B5EF4-FFF2-40B4-BE49-F238E27FC236}">
                        <a16:creationId xmlns:a16="http://schemas.microsoft.com/office/drawing/2014/main" id="{DCC6E2A4-A340-9F9C-B0A0-2CA8CF65908B}"/>
                      </a:ext>
                    </a:extLst>
                  </p:cNvPr>
                  <p:cNvCxnSpPr>
                    <a:cxnSpLocks/>
                  </p:cNvCxnSpPr>
                  <p:nvPr/>
                </p:nvCxnSpPr>
                <p:spPr>
                  <a:xfrm>
                    <a:off x="10515324" y="14329987"/>
                    <a:ext cx="8526350" cy="0"/>
                  </a:xfrm>
                  <a:prstGeom prst="line">
                    <a:avLst/>
                  </a:prstGeom>
                  <a:ln w="25400">
                    <a:solidFill>
                      <a:schemeClr val="accent1">
                        <a:alpha val="70010"/>
                      </a:schemeClr>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3C97ACD9-D76A-5780-F048-0F6E95E6B69E}"/>
                      </a:ext>
                    </a:extLst>
                  </p:cNvPr>
                  <p:cNvSpPr txBox="1"/>
                  <p:nvPr/>
                </p:nvSpPr>
                <p:spPr>
                  <a:xfrm>
                    <a:off x="11775688" y="14329987"/>
                    <a:ext cx="7344530" cy="1304203"/>
                  </a:xfrm>
                  <a:prstGeom prst="rect">
                    <a:avLst/>
                  </a:prstGeom>
                  <a:noFill/>
                </p:spPr>
                <p:txBody>
                  <a:bodyPr wrap="square" rtlCol="0">
                    <a:spAutoFit/>
                  </a:bodyPr>
                  <a:lstStyle/>
                  <a:p>
                    <a:pPr marL="342900" indent="-342900" algn="just">
                      <a:lnSpc>
                        <a:spcPct val="90000"/>
                      </a:lnSpc>
                      <a:buFont typeface="Wingdings" pitchFamily="2" charset="2"/>
                      <a:buChar char="Ø"/>
                    </a:pPr>
                    <a:r>
                      <a:rPr lang="en-US" sz="1750" b="1" dirty="0"/>
                      <a:t>Link federal &amp; state records</a:t>
                    </a:r>
                    <a:r>
                      <a:rPr lang="en-US" sz="1750" dirty="0"/>
                      <a:t>; update the 3rd City database via Qualtrics.</a:t>
                    </a:r>
                  </a:p>
                  <a:p>
                    <a:pPr marL="342900" indent="-342900" algn="just">
                      <a:lnSpc>
                        <a:spcPct val="90000"/>
                      </a:lnSpc>
                      <a:buFont typeface="Wingdings" pitchFamily="2" charset="2"/>
                      <a:buChar char="Ø"/>
                    </a:pPr>
                    <a:r>
                      <a:rPr lang="en-US" sz="1750" b="1" dirty="0"/>
                      <a:t>Finalize BJA data (2020–2024)</a:t>
                    </a:r>
                    <a:r>
                      <a:rPr lang="en-US" sz="1750" dirty="0"/>
                      <a:t> for analysis and integration.</a:t>
                    </a:r>
                  </a:p>
                  <a:p>
                    <a:pPr marL="342900" indent="-342900" algn="just">
                      <a:lnSpc>
                        <a:spcPct val="90000"/>
                      </a:lnSpc>
                      <a:buFont typeface="Wingdings" pitchFamily="2" charset="2"/>
                      <a:buChar char="Ø"/>
                    </a:pPr>
                    <a:r>
                      <a:rPr lang="en-US" sz="1750" b="1" dirty="0"/>
                      <a:t>Enhance the interactive map</a:t>
                    </a:r>
                    <a:r>
                      <a:rPr lang="en-US" sz="1750" dirty="0"/>
                      <a:t> and prepare for public release.</a:t>
                    </a:r>
                  </a:p>
                  <a:p>
                    <a:pPr marL="342900" indent="-342900" algn="just">
                      <a:lnSpc>
                        <a:spcPct val="90000"/>
                      </a:lnSpc>
                      <a:buFont typeface="Wingdings" pitchFamily="2" charset="2"/>
                      <a:buChar char="Ø"/>
                    </a:pPr>
                    <a:r>
                      <a:rPr lang="en-US" sz="1750" b="1" dirty="0"/>
                      <a:t>Use statistical and ML models</a:t>
                    </a:r>
                    <a:r>
                      <a:rPr lang="en-US" sz="1750" dirty="0"/>
                      <a:t> to continue analyzing mortality trends.</a:t>
                    </a:r>
                  </a:p>
                  <a:p>
                    <a:pPr marL="342900" indent="-342900" algn="just">
                      <a:lnSpc>
                        <a:spcPct val="90000"/>
                      </a:lnSpc>
                      <a:buFont typeface="Wingdings" pitchFamily="2" charset="2"/>
                      <a:buChar char="Ø"/>
                    </a:pPr>
                    <a:r>
                      <a:rPr lang="en-US" sz="1750" b="1" dirty="0"/>
                      <a:t>Collaborate with Third City</a:t>
                    </a:r>
                    <a:r>
                      <a:rPr lang="en-US" sz="1750" dirty="0"/>
                      <a:t> to improve the platform and draft policy briefs.</a:t>
                    </a:r>
                  </a:p>
                </p:txBody>
              </p:sp>
            </p:grpSp>
          </p:grpSp>
        </p:grpSp>
      </p:grpSp>
    </p:spTree>
    <p:extLst>
      <p:ext uri="{BB962C8B-B14F-4D97-AF65-F5344CB8AC3E}">
        <p14:creationId xmlns:p14="http://schemas.microsoft.com/office/powerpoint/2010/main" val="10644353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3860f90-1ece-49d8-95f7-246933b4faa8">
      <Terms xmlns="http://schemas.microsoft.com/office/infopath/2007/PartnerControls"/>
    </lcf76f155ced4ddcb4097134ff3c332f>
    <TaxCatchAll xmlns="b1735c0b-2720-4a5f-9696-50d182c2ae4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1BF30A34AE41D47A08E27119B673D82" ma:contentTypeVersion="11" ma:contentTypeDescription="Create a new document." ma:contentTypeScope="" ma:versionID="768af7b54a816ed33e47592a430da9b6">
  <xsd:schema xmlns:xsd="http://www.w3.org/2001/XMLSchema" xmlns:xs="http://www.w3.org/2001/XMLSchema" xmlns:p="http://schemas.microsoft.com/office/2006/metadata/properties" xmlns:ns2="53860f90-1ece-49d8-95f7-246933b4faa8" xmlns:ns3="b1735c0b-2720-4a5f-9696-50d182c2ae4e" targetNamespace="http://schemas.microsoft.com/office/2006/metadata/properties" ma:root="true" ma:fieldsID="38be9631cc6ba9afdaadc544f2047525" ns2:_="" ns3:_="">
    <xsd:import namespace="53860f90-1ece-49d8-95f7-246933b4faa8"/>
    <xsd:import namespace="b1735c0b-2720-4a5f-9696-50d182c2ae4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Locatio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860f90-1ece-49d8-95f7-246933b4fa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3de6858-8a92-4ea2-93bf-f9910da23fa2" ma:termSetId="09814cd3-568e-fe90-9814-8d621ff8fb84" ma:anchorId="fba54fb3-c3e1-fe81-a776-ca4b69148c4d" ma:open="true" ma:isKeyword="false">
      <xsd:complexType>
        <xsd:sequence>
          <xsd:element ref="pc:Terms" minOccurs="0" maxOccurs="1"/>
        </xsd:sequence>
      </xsd:complexType>
    </xsd:element>
    <xsd:element name="MediaServiceLocation" ma:index="15" nillable="true" ma:displayName="Location" ma:indexed="true"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735c0b-2720-4a5f-9696-50d182c2ae4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022cfd3-f0df-4364-b8bd-fe4a5b50ae97}" ma:internalName="TaxCatchAll" ma:showField="CatchAllData" ma:web="b1735c0b-2720-4a5f-9696-50d182c2ae4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3BDC16-D1AD-4B81-8CF4-979A7ADD9FFA}">
  <ds:schemaRefs>
    <ds:schemaRef ds:uri="http://schemas.microsoft.com/office/2006/metadata/properties"/>
    <ds:schemaRef ds:uri="http://schemas.microsoft.com/office/infopath/2007/PartnerControls"/>
    <ds:schemaRef ds:uri="53860f90-1ece-49d8-95f7-246933b4faa8"/>
    <ds:schemaRef ds:uri="b1735c0b-2720-4a5f-9696-50d182c2ae4e"/>
  </ds:schemaRefs>
</ds:datastoreItem>
</file>

<file path=customXml/itemProps2.xml><?xml version="1.0" encoding="utf-8"?>
<ds:datastoreItem xmlns:ds="http://schemas.openxmlformats.org/officeDocument/2006/customXml" ds:itemID="{B2DE6C0B-05B3-4C4D-8D25-4C38F99F2B84}">
  <ds:schemaRefs>
    <ds:schemaRef ds:uri="http://schemas.microsoft.com/sharepoint/v3/contenttype/forms"/>
  </ds:schemaRefs>
</ds:datastoreItem>
</file>

<file path=customXml/itemProps3.xml><?xml version="1.0" encoding="utf-8"?>
<ds:datastoreItem xmlns:ds="http://schemas.openxmlformats.org/officeDocument/2006/customXml" ds:itemID="{4353E270-9256-4250-B850-B42BFFD8F9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860f90-1ece-49d8-95f7-246933b4faa8"/>
    <ds:schemaRef ds:uri="b1735c0b-2720-4a5f-9696-50d182c2ae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3522</TotalTime>
  <Words>985</Words>
  <Application>Microsoft Macintosh PowerPoint</Application>
  <PresentationFormat>Custom</PresentationFormat>
  <Paragraphs>48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Wingdings</vt:lpstr>
      <vt:lpstr>Office Theme</vt:lpstr>
      <vt:lpstr>PowerPoint Presentation</vt:lpstr>
    </vt:vector>
  </TitlesOfParts>
  <Company>Duke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Ariel Dawn</dc:creator>
  <cp:lastModifiedBy>Ramil Mammadov</cp:lastModifiedBy>
  <cp:revision>40</cp:revision>
  <dcterms:created xsi:type="dcterms:W3CDTF">2018-07-02T14:53:52Z</dcterms:created>
  <dcterms:modified xsi:type="dcterms:W3CDTF">2025-07-21T16:39:06Z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0x010100F1BF30A34AE41D47A08E27119B673D82</vt:lpwstr>
  </property>
</Properties>
</file>